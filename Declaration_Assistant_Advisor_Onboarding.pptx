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2" r:id="rId21"/>
    <p:sldId id="273" r:id="rId22"/>
    <p:sldId id="274" r:id="rId23"/>
    <p:sldId id="271" r:id="rId20"/>
  </p:sldIdLst>
  <p:sldSz cy="6858000" cx="12191675"/>
  <p:notesSz cx="6858000" cy="12191675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
<Relationships xmlns="http://schemas.openxmlformats.org/package/2006/relationships"><Relationship Id="rId20" Type="http://schemas.openxmlformats.org/officeDocument/2006/relationships/slide" Target="slides/slide16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19" Type="http://schemas.openxmlformats.org/officeDocument/2006/relationships/slide" Target="slides/slide15.xml"/><Relationship Id="rId6" Type="http://schemas.openxmlformats.org/officeDocument/2006/relationships/slide" Target="slides/slide2.xml"/><Relationship Id="rId18" Type="http://schemas.openxmlformats.org/officeDocument/2006/relationships/slide" Target="slides/slide14.xml"/><Relationship Id="rId7" Type="http://schemas.openxmlformats.org/officeDocument/2006/relationships/slide" Target="slides/slide3.xml"/><Relationship Id="rId8" Type="http://schemas.openxmlformats.org/officeDocument/2006/relationships/slide" Target="slides/slide4.xml"/>  <Relationship Id="rId21" Type="http://schemas.openxmlformats.org/officeDocument/2006/relationships/slide" Target="slides/slide17.xml"/>
  <Relationship Id="rId22" Type="http://schemas.openxmlformats.org/officeDocument/2006/relationships/slide" Target="slides/slide18.xml"/>
  <Relationship Id="rId23" Type="http://schemas.openxmlformats.org/officeDocument/2006/relationships/slide" Target="slides/slide19.xml"/>
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1" name="Google Shape;41;p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" name="Google Shape;42;p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0" name="Google Shape;90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3" name="Google Shape;103;p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6" name="Google Shape;116;p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9" name="Google Shape;129;p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2" name="Google Shape;142;p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6" name="Google Shape;176;p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9" name="Google Shape;189;p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2" name="Google Shape;202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0" name="Google Shape;220;p1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p1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4" name="Google Shape;244;p1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" name="Google Shape;245;p1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8" name="Google Shape;268;p1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9" name="Google Shape;269;p1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6" name="Google Shape;296;p1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7" name="Google Shape;297;p1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2" name="Google Shape;312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3" name="Google Shape;313;p1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2" name="Google Shape;352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3" name="Google Shape;353;p1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8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0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9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4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6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2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7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14.png"/></Relationships>
</file>

<file path=ppt/slides/_rels/slide1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15.png"/></Relationships>
</file>

<file path=ppt/slides/_rels/slide1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16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1420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>
            <a:off x="952500" y="1828800"/>
            <a:ext cx="114300" cy="114300"/>
          </a:xfrm>
          <a:prstGeom prst="ellipse">
            <a:avLst/>
          </a:prstGeom>
          <a:solidFill>
            <a:srgbClr val="00D3F3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7" name="Google Shape;17;p3"/>
          <p:cNvGrpSpPr/>
          <p:nvPr/>
        </p:nvGrpSpPr>
        <p:grpSpPr>
          <a:xfrm>
            <a:off x="1181100" y="1714500"/>
            <a:ext cx="4762500" cy="342900"/>
            <a:chOff x="0" y="0"/>
            <a:chExt cx="4762500" cy="342900"/>
          </a:xfrm>
        </p:grpSpPr>
        <p:sp>
          <p:nvSpPr>
            <p:cNvPr id="18" name="Google Shape;18;p3"/>
            <p:cNvSpPr/>
            <p:nvPr/>
          </p:nvSpPr>
          <p:spPr>
            <a:xfrm>
              <a:off x="0" y="0"/>
              <a:ext cx="4762500" cy="3429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" name="Google Shape;19;p3"/>
            <p:cNvSpPr txBox="1"/>
            <p:nvPr/>
          </p:nvSpPr>
          <p:spPr>
            <a:xfrm>
              <a:off x="0" y="0"/>
              <a:ext cx="47625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300">
                  <a:solidFill>
                    <a:srgbClr val="00D3F3"/>
                  </a:solidFill>
                  <a:latin typeface="Calibri"/>
                  <a:ea typeface="Calibri"/>
                  <a:cs typeface="Calibri"/>
                  <a:sym typeface="Calibri"/>
                </a:rPr>
                <a:t>ADVISOR ZONE · ADVISOR ONBOARDING</a:t>
              </a:r>
              <a:endParaRPr b="1" sz="1300">
                <a:solidFill>
                  <a:srgbClr val="00D3F3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0" name="Google Shape;20;p3"/>
          <p:cNvGrpSpPr/>
          <p:nvPr/>
        </p:nvGrpSpPr>
        <p:grpSpPr>
          <a:xfrm>
            <a:off x="952500" y="2190750"/>
            <a:ext cx="7143900" cy="1714500"/>
            <a:chOff x="0" y="0"/>
            <a:chExt cx="7143900" cy="1714500"/>
          </a:xfrm>
        </p:grpSpPr>
        <p:sp>
          <p:nvSpPr>
            <p:cNvPr id="21" name="Google Shape;21;p3"/>
            <p:cNvSpPr/>
            <p:nvPr/>
          </p:nvSpPr>
          <p:spPr>
            <a:xfrm>
              <a:off x="0" y="0"/>
              <a:ext cx="7143900" cy="1714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" name="Google Shape;22;p3"/>
            <p:cNvSpPr txBox="1"/>
            <p:nvPr/>
          </p:nvSpPr>
          <p:spPr>
            <a:xfrm>
              <a:off x="0" y="0"/>
              <a:ext cx="7143900" cy="1714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5440">
                  <a:solidFill>
                    <a:srgbClr val="F2F6F9"/>
                  </a:solidFill>
                  <a:latin typeface="Cambria"/>
                  <a:ea typeface="Cambria"/>
                  <a:cs typeface="Cambria"/>
                  <a:sym typeface="Cambria"/>
                </a:rPr>
                <a:t>Declaration Assistant</a:t>
              </a:r>
              <a:endParaRPr b="1" sz="5440">
                <a:solidFill>
                  <a:srgbClr val="F2F6F9"/>
                </a:solidFill>
                <a:latin typeface="Cambria"/>
                <a:ea typeface="Cambria"/>
                <a:cs typeface="Cambria"/>
                <a:sym typeface="Cambria"/>
              </a:endParaRPr>
            </a:p>
          </p:txBody>
        </p:sp>
      </p:grpSp>
      <p:grpSp>
        <p:nvGrpSpPr>
          <p:cNvPr id="23" name="Google Shape;23;p3"/>
          <p:cNvGrpSpPr/>
          <p:nvPr/>
        </p:nvGrpSpPr>
        <p:grpSpPr>
          <a:xfrm>
            <a:off x="952500" y="4000500"/>
            <a:ext cx="6667500" cy="952500"/>
            <a:chOff x="0" y="0"/>
            <a:chExt cx="6667500" cy="952500"/>
          </a:xfrm>
        </p:grpSpPr>
        <p:sp>
          <p:nvSpPr>
            <p:cNvPr id="24" name="Google Shape;24;p3"/>
            <p:cNvSpPr/>
            <p:nvPr/>
          </p:nvSpPr>
          <p:spPr>
            <a:xfrm>
              <a:off x="0" y="0"/>
              <a:ext cx="6667500" cy="952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" name="Google Shape;25;p3"/>
            <p:cNvSpPr txBox="1"/>
            <p:nvPr/>
          </p:nvSpPr>
          <p:spPr>
            <a:xfrm>
              <a:off x="0" y="0"/>
              <a:ext cx="6667500" cy="95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800">
                  <a:solidFill>
                    <a:srgbClr val="8CA0B3"/>
                  </a:solidFill>
                  <a:latin typeface="Calibri"/>
                  <a:ea typeface="Calibri"/>
                  <a:cs typeface="Calibri"/>
                  <a:sym typeface="Calibri"/>
                </a:rPr>
                <a:t>How to search, interpret tags, and get every declaration right the first time.</a:t>
              </a:r>
              <a:endParaRPr b="0" sz="1800">
                <a:solidFill>
                  <a:srgbClr val="8CA0B3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cxnSp>
        <p:nvCxnSpPr>
          <p:cNvPr id="26" name="Google Shape;26;p3"/>
          <p:cNvCxnSpPr/>
          <p:nvPr/>
        </p:nvCxnSpPr>
        <p:spPr>
          <a:xfrm>
            <a:off x="952500" y="5143500"/>
            <a:ext cx="1905000" cy="0"/>
          </a:xfrm>
          <a:prstGeom prst="straightConnector1">
            <a:avLst/>
          </a:prstGeom>
          <a:solidFill>
            <a:srgbClr val="FFFFFF"/>
          </a:solidFill>
          <a:ln cap="flat" cmpd="sng" w="19050">
            <a:solidFill>
              <a:srgbClr val="1E2E42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27" name="Google Shape;27;p3"/>
          <p:cNvGrpSpPr/>
          <p:nvPr/>
        </p:nvGrpSpPr>
        <p:grpSpPr>
          <a:xfrm>
            <a:off x="952500" y="5286375"/>
            <a:ext cx="5715000" cy="381000"/>
            <a:chOff x="0" y="0"/>
            <a:chExt cx="5715000" cy="381000"/>
          </a:xfrm>
        </p:grpSpPr>
        <p:sp>
          <p:nvSpPr>
            <p:cNvPr id="28" name="Google Shape;28;p3"/>
            <p:cNvSpPr/>
            <p:nvPr/>
          </p:nvSpPr>
          <p:spPr>
            <a:xfrm>
              <a:off x="0" y="0"/>
              <a:ext cx="5715000" cy="381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" name="Google Shape;29;p3"/>
            <p:cNvSpPr txBox="1"/>
            <p:nvPr/>
          </p:nvSpPr>
          <p:spPr>
            <a:xfrm>
              <a:off x="0" y="0"/>
              <a:ext cx="5715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100">
                  <a:solidFill>
                    <a:srgbClr val="5C7086"/>
                  </a:solidFill>
                  <a:latin typeface="Calibri"/>
                  <a:ea typeface="Calibri"/>
                  <a:cs typeface="Calibri"/>
                  <a:sym typeface="Calibri"/>
                </a:rPr>
                <a:t>KNOW WHAT TO DECLARE. KNOW WHERE TO DECLARE.</a:t>
              </a:r>
              <a:endParaRPr b="1" sz="1100">
                <a:solidFill>
                  <a:srgbClr val="5C7086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30" name="Google Shape;30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800975" y="1747838"/>
            <a:ext cx="1343100" cy="3362400"/>
          </a:xfrm>
          <a:prstGeom prst="rect">
            <a:avLst/>
          </a:prstGeom>
          <a:noFill/>
          <a:ln>
            <a:noFill/>
          </a:ln>
        </p:spPr>
      </p:pic>
      <p:sp>
        <p:nvSpPr>
          <p:cNvPr id="31" name="Google Shape;31;p3"/>
          <p:cNvSpPr/>
          <p:nvPr/>
        </p:nvSpPr>
        <p:spPr>
          <a:xfrm>
            <a:off x="8382000" y="2286000"/>
            <a:ext cx="2286000" cy="2286000"/>
          </a:xfrm>
          <a:prstGeom prst="ellipse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1E2E4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2" name="Google Shape;32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943975" y="2990850"/>
            <a:ext cx="200100" cy="8763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3" name="Google Shape;33;p3"/>
          <p:cNvGrpSpPr/>
          <p:nvPr/>
        </p:nvGrpSpPr>
        <p:grpSpPr>
          <a:xfrm>
            <a:off x="8572500" y="2476500"/>
            <a:ext cx="1905000" cy="1905000"/>
            <a:chOff x="0" y="0"/>
            <a:chExt cx="1905000" cy="1905000"/>
          </a:xfrm>
        </p:grpSpPr>
        <p:sp>
          <p:nvSpPr>
            <p:cNvPr id="34" name="Google Shape;34;p3"/>
            <p:cNvSpPr/>
            <p:nvPr/>
          </p:nvSpPr>
          <p:spPr>
            <a:xfrm>
              <a:off x="0" y="0"/>
              <a:ext cx="1905000" cy="1905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p3"/>
            <p:cNvSpPr txBox="1"/>
            <p:nvPr/>
          </p:nvSpPr>
          <p:spPr>
            <a:xfrm>
              <a:off x="0" y="0"/>
              <a:ext cx="1905000" cy="1905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2000">
                  <a:solidFill>
                    <a:srgbClr val="00D3F3"/>
                  </a:solidFill>
                  <a:latin typeface="Calibri"/>
                  <a:ea typeface="Calibri"/>
                  <a:cs typeface="Calibri"/>
                  <a:sym typeface="Calibri"/>
                </a:rPr>
                <a:t>✦</a:t>
              </a:r>
              <a:endParaRPr b="0" sz="12000">
                <a:solidFill>
                  <a:srgbClr val="00D3F3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6" name="Google Shape;36;p3"/>
          <p:cNvGrpSpPr/>
          <p:nvPr/>
        </p:nvGrpSpPr>
        <p:grpSpPr>
          <a:xfrm>
            <a:off x="952500" y="6286500"/>
            <a:ext cx="5715000" cy="285900"/>
            <a:chOff x="0" y="0"/>
            <a:chExt cx="5715000" cy="285900"/>
          </a:xfrm>
        </p:grpSpPr>
        <p:sp>
          <p:nvSpPr>
            <p:cNvPr id="37" name="Google Shape;37;p3"/>
            <p:cNvSpPr/>
            <p:nvPr/>
          </p:nvSpPr>
          <p:spPr>
            <a:xfrm>
              <a:off x="0" y="0"/>
              <a:ext cx="5715000" cy="2859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" name="Google Shape;38;p3"/>
            <p:cNvSpPr txBox="1"/>
            <p:nvPr/>
          </p:nvSpPr>
          <p:spPr>
            <a:xfrm>
              <a:off x="0" y="0"/>
              <a:ext cx="57150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850">
                  <a:solidFill>
                    <a:srgbClr val="5C7086"/>
                  </a:solidFill>
                  <a:latin typeface="Calibri"/>
                  <a:ea typeface="Calibri"/>
                  <a:cs typeface="Calibri"/>
                  <a:sym typeface="Calibri"/>
                </a:rPr>
                <a:t>DECLARATION ASSISTANT — </a:t>
              </a:r>
              <a:r>
                <a:rPr lang="en-US" sz="850">
                  <a:solidFill>
                    <a:srgbClr val="5C7086"/>
                  </a:solidFill>
                  <a:latin typeface="Calibri"/>
                  <a:ea typeface="Calibri"/>
                  <a:cs typeface="Calibri"/>
                  <a:sym typeface="Calibri"/>
                </a:rPr>
                <a:t>YOUR PAYMENT ASSISTANT</a:t>
              </a:r>
              <a:endParaRPr b="0" sz="850">
                <a:solidFill>
                  <a:srgbClr val="5C7086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1420"/>
        </a:solidFill>
      </p:bgPr>
    </p:bg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4"/>
          <p:cNvSpPr/>
          <p:nvPr/>
        </p:nvSpPr>
        <p:spPr>
          <a:xfrm>
            <a:off x="762000" y="476250"/>
            <a:ext cx="114300" cy="114300"/>
          </a:xfrm>
          <a:prstGeom prst="ellipse">
            <a:avLst/>
          </a:prstGeom>
          <a:solidFill>
            <a:srgbClr val="00D3F3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5" name="Google Shape;45;p4"/>
          <p:cNvGrpSpPr/>
          <p:nvPr/>
        </p:nvGrpSpPr>
        <p:grpSpPr>
          <a:xfrm>
            <a:off x="952500" y="361950"/>
            <a:ext cx="3810000" cy="285900"/>
            <a:chOff x="0" y="0"/>
            <a:chExt cx="3810000" cy="285900"/>
          </a:xfrm>
        </p:grpSpPr>
        <p:sp>
          <p:nvSpPr>
            <p:cNvPr id="46" name="Google Shape;46;p4"/>
            <p:cNvSpPr/>
            <p:nvPr/>
          </p:nvSpPr>
          <p:spPr>
            <a:xfrm>
              <a:off x="0" y="0"/>
              <a:ext cx="3810000" cy="2859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" name="Google Shape;47;p4"/>
            <p:cNvSpPr txBox="1"/>
            <p:nvPr/>
          </p:nvSpPr>
          <p:spPr>
            <a:xfrm>
              <a:off x="0" y="0"/>
              <a:ext cx="38100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200">
                  <a:solidFill>
                    <a:srgbClr val="00D3F3"/>
                  </a:solidFill>
                  <a:latin typeface="Calibri"/>
                  <a:ea typeface="Calibri"/>
                  <a:cs typeface="Calibri"/>
                  <a:sym typeface="Calibri"/>
                </a:rPr>
                <a:t>TRAINING AGENDA</a:t>
              </a:r>
              <a:endParaRPr b="1" sz="1200">
                <a:solidFill>
                  <a:srgbClr val="00D3F3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8" name="Google Shape;48;p4"/>
          <p:cNvGrpSpPr/>
          <p:nvPr/>
        </p:nvGrpSpPr>
        <p:grpSpPr>
          <a:xfrm>
            <a:off x="762000" y="647700"/>
            <a:ext cx="5715000" cy="762000"/>
            <a:chOff x="0" y="0"/>
            <a:chExt cx="5715000" cy="762000"/>
          </a:xfrm>
        </p:grpSpPr>
        <p:sp>
          <p:nvSpPr>
            <p:cNvPr id="49" name="Google Shape;49;p4"/>
            <p:cNvSpPr/>
            <p:nvPr/>
          </p:nvSpPr>
          <p:spPr>
            <a:xfrm>
              <a:off x="0" y="0"/>
              <a:ext cx="5715000" cy="762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" name="Google Shape;50;p4"/>
            <p:cNvSpPr txBox="1"/>
            <p:nvPr/>
          </p:nvSpPr>
          <p:spPr>
            <a:xfrm>
              <a:off x="0" y="0"/>
              <a:ext cx="57150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3600">
                  <a:solidFill>
                    <a:srgbClr val="F2F6F9"/>
                  </a:solidFill>
                  <a:latin typeface="Cambria"/>
                  <a:ea typeface="Cambria"/>
                  <a:cs typeface="Cambria"/>
                  <a:sym typeface="Cambria"/>
                </a:rPr>
                <a:t>What We'll Cover</a:t>
              </a:r>
              <a:endParaRPr b="1" sz="3600">
                <a:solidFill>
                  <a:srgbClr val="F2F6F9"/>
                </a:solidFill>
                <a:latin typeface="Cambria"/>
                <a:ea typeface="Cambria"/>
                <a:cs typeface="Cambria"/>
                <a:sym typeface="Cambria"/>
              </a:endParaRPr>
            </a:p>
          </p:txBody>
        </p:sp>
      </p:grpSp>
      <p:grpSp>
        <p:nvGrpSpPr>
          <p:cNvPr id="51" name="Google Shape;51;p4"/>
          <p:cNvGrpSpPr/>
          <p:nvPr/>
        </p:nvGrpSpPr>
        <p:grpSpPr>
          <a:xfrm>
            <a:off x="762000" y="1619250"/>
            <a:ext cx="2524200" cy="2143200"/>
            <a:chOff x="0" y="0"/>
            <a:chExt cx="2524200" cy="2143200"/>
          </a:xfrm>
        </p:grpSpPr>
        <p:sp>
          <p:nvSpPr>
            <p:cNvPr id="52" name="Google Shape;52;p4"/>
            <p:cNvSpPr/>
            <p:nvPr/>
          </p:nvSpPr>
          <p:spPr>
            <a:xfrm>
              <a:off x="0" y="0"/>
              <a:ext cx="2524200" cy="2143200"/>
            </a:xfrm>
            <a:prstGeom prst="roundRect">
              <a:avLst>
                <a:gd fmla="val 4443" name="adj"/>
              </a:avLst>
            </a:prstGeom>
            <a:solidFill>
              <a:srgbClr val="0D1826"/>
            </a:solidFill>
            <a:ln cap="flat" cmpd="sng" w="14300">
              <a:solidFill>
                <a:srgbClr val="1E2E4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" name="Google Shape;53;p4"/>
            <p:cNvSpPr/>
            <p:nvPr/>
          </p:nvSpPr>
          <p:spPr>
            <a:xfrm>
              <a:off x="152400" y="152400"/>
              <a:ext cx="457200" cy="228600"/>
            </a:xfrm>
            <a:prstGeom prst="roundRect">
              <a:avLst>
                <a:gd fmla="val 50000" name="adj"/>
              </a:avLst>
            </a:prstGeom>
            <a:solidFill>
              <a:srgbClr val="00D3F3">
                <a:alpha val="10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" name="Google Shape;54;p4"/>
            <p:cNvSpPr txBox="1"/>
            <p:nvPr/>
          </p:nvSpPr>
          <p:spPr>
            <a:xfrm>
              <a:off x="152400" y="152400"/>
              <a:ext cx="4572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000">
                  <a:solidFill>
                    <a:srgbClr val="00D3F3"/>
                  </a:solidFill>
                  <a:latin typeface="Cambria"/>
                  <a:ea typeface="Cambria"/>
                  <a:cs typeface="Cambria"/>
                  <a:sym typeface="Cambria"/>
                </a:rPr>
                <a:t>01</a:t>
              </a:r>
              <a:endParaRPr b="1" sz="1000">
                <a:solidFill>
                  <a:srgbClr val="00D3F3"/>
                </a:solidFill>
                <a:latin typeface="Cambria"/>
                <a:ea typeface="Cambria"/>
                <a:cs typeface="Cambria"/>
                <a:sym typeface="Cambria"/>
              </a:endParaRPr>
            </a:p>
          </p:txBody>
        </p:sp>
        <p:sp>
          <p:nvSpPr>
            <p:cNvPr id="55" name="Google Shape;55;p4"/>
            <p:cNvSpPr txBox="1"/>
            <p:nvPr/>
          </p:nvSpPr>
          <p:spPr>
            <a:xfrm>
              <a:off x="152400" y="533400"/>
              <a:ext cx="2219400" cy="1428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400">
                  <a:solidFill>
                    <a:srgbClr val="F2F6F9"/>
                  </a:solidFill>
                  <a:latin typeface="Calibri"/>
                  <a:ea typeface="Calibri"/>
                  <a:cs typeface="Calibri"/>
                  <a:sym typeface="Calibri"/>
                </a:rPr>
                <a:t>Advisor Home &amp; the Mapping Engine</a:t>
              </a:r>
              <a:endParaRPr b="1" sz="1400">
                <a:solidFill>
                  <a:srgbClr val="F2F6F9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600"/>
                </a:spcAft>
                <a:buNone/>
              </a:pPr>
              <a:r>
                <a:rPr b="0" lang="en-US" sz="1100">
                  <a:solidFill>
                    <a:srgbClr val="8CA0B3"/>
                  </a:solidFill>
                  <a:latin typeface="Calibri"/>
                  <a:ea typeface="Calibri"/>
                  <a:cs typeface="Calibri"/>
                  <a:sym typeface="Calibri"/>
                </a:rPr>
                <a:t>Where advisors land, and how a lookup begins</a:t>
              </a:r>
              <a:endParaRPr b="0" sz="1100">
                <a:solidFill>
                  <a:srgbClr val="8CA0B3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6" name="Google Shape;56;p4"/>
          <p:cNvGrpSpPr/>
          <p:nvPr/>
        </p:nvGrpSpPr>
        <p:grpSpPr>
          <a:xfrm>
            <a:off x="3476625" y="1619250"/>
            <a:ext cx="2524200" cy="2143200"/>
            <a:chOff x="0" y="0"/>
            <a:chExt cx="2524200" cy="2143200"/>
          </a:xfrm>
        </p:grpSpPr>
        <p:sp>
          <p:nvSpPr>
            <p:cNvPr id="57" name="Google Shape;57;p4"/>
            <p:cNvSpPr/>
            <p:nvPr/>
          </p:nvSpPr>
          <p:spPr>
            <a:xfrm>
              <a:off x="0" y="0"/>
              <a:ext cx="2524200" cy="2143200"/>
            </a:xfrm>
            <a:prstGeom prst="roundRect">
              <a:avLst>
                <a:gd fmla="val 4443" name="adj"/>
              </a:avLst>
            </a:prstGeom>
            <a:solidFill>
              <a:srgbClr val="0D1826"/>
            </a:solidFill>
            <a:ln cap="flat" cmpd="sng" w="14300">
              <a:solidFill>
                <a:srgbClr val="1E2E4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" name="Google Shape;58;p4"/>
            <p:cNvSpPr/>
            <p:nvPr/>
          </p:nvSpPr>
          <p:spPr>
            <a:xfrm>
              <a:off x="152400" y="152400"/>
              <a:ext cx="457200" cy="228600"/>
            </a:xfrm>
            <a:prstGeom prst="roundRect">
              <a:avLst>
                <a:gd fmla="val 50000" name="adj"/>
              </a:avLst>
            </a:prstGeom>
            <a:solidFill>
              <a:srgbClr val="3B93E0">
                <a:alpha val="10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" name="Google Shape;59;p4"/>
            <p:cNvSpPr txBox="1"/>
            <p:nvPr/>
          </p:nvSpPr>
          <p:spPr>
            <a:xfrm>
              <a:off x="152400" y="152400"/>
              <a:ext cx="4572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000">
                  <a:solidFill>
                    <a:srgbClr val="3B93E0"/>
                  </a:solidFill>
                  <a:latin typeface="Cambria"/>
                  <a:ea typeface="Cambria"/>
                  <a:cs typeface="Cambria"/>
                  <a:sym typeface="Cambria"/>
                </a:rPr>
                <a:t>02</a:t>
              </a:r>
              <a:endParaRPr b="1" sz="1000">
                <a:solidFill>
                  <a:srgbClr val="3B93E0"/>
                </a:solidFill>
                <a:latin typeface="Cambria"/>
                <a:ea typeface="Cambria"/>
                <a:cs typeface="Cambria"/>
                <a:sym typeface="Cambria"/>
              </a:endParaRPr>
            </a:p>
          </p:txBody>
        </p:sp>
        <p:sp>
          <p:nvSpPr>
            <p:cNvPr id="60" name="Google Shape;60;p4"/>
            <p:cNvSpPr txBox="1"/>
            <p:nvPr/>
          </p:nvSpPr>
          <p:spPr>
            <a:xfrm>
              <a:off x="152400" y="533400"/>
              <a:ext cx="2219400" cy="1428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400">
                  <a:solidFill>
                    <a:srgbClr val="F2F6F9"/>
                  </a:solidFill>
                  <a:latin typeface="Calibri"/>
                  <a:ea typeface="Calibri"/>
                  <a:cs typeface="Calibri"/>
                  <a:sym typeface="Calibri"/>
                </a:rPr>
                <a:t>Multi-condition search</a:t>
              </a:r>
              <a:endParaRPr b="1" sz="1400">
                <a:solidFill>
                  <a:srgbClr val="F2F6F9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600"/>
                </a:spcAft>
                <a:buNone/>
              </a:pPr>
              <a:r>
                <a:rPr b="0" lang="en-US" sz="1100">
                  <a:solidFill>
                    <a:srgbClr val="8CA0B3"/>
                  </a:solidFill>
                  <a:latin typeface="Calibri"/>
                  <a:ea typeface="Calibri"/>
                  <a:cs typeface="Calibri"/>
                  <a:sym typeface="Calibri"/>
                </a:rPr>
                <a:t>Queuing every PED before you run a match</a:t>
              </a:r>
              <a:endParaRPr b="0" sz="1100">
                <a:solidFill>
                  <a:srgbClr val="8CA0B3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61" name="Google Shape;61;p4"/>
          <p:cNvGrpSpPr/>
          <p:nvPr/>
        </p:nvGrpSpPr>
        <p:grpSpPr>
          <a:xfrm>
            <a:off x="6191250" y="1619250"/>
            <a:ext cx="2524200" cy="2143200"/>
            <a:chOff x="0" y="0"/>
            <a:chExt cx="2524200" cy="2143200"/>
          </a:xfrm>
        </p:grpSpPr>
        <p:sp>
          <p:nvSpPr>
            <p:cNvPr id="62" name="Google Shape;62;p4"/>
            <p:cNvSpPr/>
            <p:nvPr/>
          </p:nvSpPr>
          <p:spPr>
            <a:xfrm>
              <a:off x="0" y="0"/>
              <a:ext cx="2524200" cy="2143200"/>
            </a:xfrm>
            <a:prstGeom prst="roundRect">
              <a:avLst>
                <a:gd fmla="val 4443" name="adj"/>
              </a:avLst>
            </a:prstGeom>
            <a:solidFill>
              <a:srgbClr val="0D1826"/>
            </a:solidFill>
            <a:ln cap="flat" cmpd="sng" w="14300">
              <a:solidFill>
                <a:srgbClr val="1E2E4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" name="Google Shape;63;p4"/>
            <p:cNvSpPr/>
            <p:nvPr/>
          </p:nvSpPr>
          <p:spPr>
            <a:xfrm>
              <a:off x="152400" y="152400"/>
              <a:ext cx="457200" cy="228600"/>
            </a:xfrm>
            <a:prstGeom prst="roundRect">
              <a:avLst>
                <a:gd fmla="val 50000" name="adj"/>
              </a:avLst>
            </a:prstGeom>
            <a:solidFill>
              <a:srgbClr val="E2596B">
                <a:alpha val="10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" name="Google Shape;64;p4"/>
            <p:cNvSpPr txBox="1"/>
            <p:nvPr/>
          </p:nvSpPr>
          <p:spPr>
            <a:xfrm>
              <a:off x="152400" y="152400"/>
              <a:ext cx="4572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000">
                  <a:solidFill>
                    <a:srgbClr val="E2596B"/>
                  </a:solidFill>
                  <a:latin typeface="Cambria"/>
                  <a:ea typeface="Cambria"/>
                  <a:cs typeface="Cambria"/>
                  <a:sym typeface="Cambria"/>
                </a:rPr>
                <a:t>03</a:t>
              </a:r>
              <a:endParaRPr b="1" sz="1000">
                <a:solidFill>
                  <a:srgbClr val="E2596B"/>
                </a:solidFill>
                <a:latin typeface="Cambria"/>
                <a:ea typeface="Cambria"/>
                <a:cs typeface="Cambria"/>
                <a:sym typeface="Cambria"/>
              </a:endParaRPr>
            </a:p>
          </p:txBody>
        </p:sp>
        <p:sp>
          <p:nvSpPr>
            <p:cNvPr id="65" name="Google Shape;65;p4"/>
            <p:cNvSpPr txBox="1"/>
            <p:nvPr/>
          </p:nvSpPr>
          <p:spPr>
            <a:xfrm>
              <a:off x="152400" y="533400"/>
              <a:ext cx="2219400" cy="1428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400">
                  <a:solidFill>
                    <a:srgbClr val="F2F6F9"/>
                  </a:solidFill>
                  <a:latin typeface="Calibri"/>
                  <a:ea typeface="Calibri"/>
                  <a:cs typeface="Calibri"/>
                  <a:sym typeface="Calibri"/>
                </a:rPr>
                <a:t>Linked PED Narrative</a:t>
              </a:r>
              <a:endParaRPr b="1" sz="1400">
                <a:solidFill>
                  <a:srgbClr val="F2F6F9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600"/>
                </a:spcAft>
                <a:buNone/>
              </a:pPr>
              <a:r>
                <a:rPr b="0" lang="en-US" sz="1100">
                  <a:solidFill>
                    <a:srgbClr val="8CA0B3"/>
                  </a:solidFill>
                  <a:latin typeface="Calibri"/>
                  <a:ea typeface="Calibri"/>
                  <a:cs typeface="Calibri"/>
                  <a:sym typeface="Calibri"/>
                </a:rPr>
                <a:t>The mandatory chronic-risk conversation</a:t>
              </a:r>
              <a:endParaRPr b="0" sz="1100">
                <a:solidFill>
                  <a:srgbClr val="8CA0B3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66" name="Google Shape;66;p4"/>
          <p:cNvGrpSpPr/>
          <p:nvPr/>
        </p:nvGrpSpPr>
        <p:grpSpPr>
          <a:xfrm>
            <a:off x="8905875" y="1619250"/>
            <a:ext cx="2524200" cy="2143200"/>
            <a:chOff x="0" y="0"/>
            <a:chExt cx="2524200" cy="2143200"/>
          </a:xfrm>
        </p:grpSpPr>
        <p:sp>
          <p:nvSpPr>
            <p:cNvPr id="67" name="Google Shape;67;p4"/>
            <p:cNvSpPr/>
            <p:nvPr/>
          </p:nvSpPr>
          <p:spPr>
            <a:xfrm>
              <a:off x="0" y="0"/>
              <a:ext cx="2524200" cy="2143200"/>
            </a:xfrm>
            <a:prstGeom prst="roundRect">
              <a:avLst>
                <a:gd fmla="val 4443" name="adj"/>
              </a:avLst>
            </a:prstGeom>
            <a:solidFill>
              <a:srgbClr val="0D1826"/>
            </a:solidFill>
            <a:ln cap="flat" cmpd="sng" w="14300">
              <a:solidFill>
                <a:srgbClr val="1E2E4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" name="Google Shape;68;p4"/>
            <p:cNvSpPr/>
            <p:nvPr/>
          </p:nvSpPr>
          <p:spPr>
            <a:xfrm>
              <a:off x="152400" y="152400"/>
              <a:ext cx="457200" cy="228600"/>
            </a:xfrm>
            <a:prstGeom prst="roundRect">
              <a:avLst>
                <a:gd fmla="val 50000" name="adj"/>
              </a:avLst>
            </a:prstGeom>
            <a:solidFill>
              <a:srgbClr val="F5A429">
                <a:alpha val="10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" name="Google Shape;69;p4"/>
            <p:cNvSpPr txBox="1"/>
            <p:nvPr/>
          </p:nvSpPr>
          <p:spPr>
            <a:xfrm>
              <a:off x="152400" y="152400"/>
              <a:ext cx="4572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000">
                  <a:solidFill>
                    <a:srgbClr val="F5A429"/>
                  </a:solidFill>
                  <a:latin typeface="Cambria"/>
                  <a:ea typeface="Cambria"/>
                  <a:cs typeface="Cambria"/>
                  <a:sym typeface="Cambria"/>
                </a:rPr>
                <a:t>04</a:t>
              </a:r>
              <a:endParaRPr b="1" sz="1000">
                <a:solidFill>
                  <a:srgbClr val="F5A429"/>
                </a:solidFill>
                <a:latin typeface="Cambria"/>
                <a:ea typeface="Cambria"/>
                <a:cs typeface="Cambria"/>
                <a:sym typeface="Cambria"/>
              </a:endParaRPr>
            </a:p>
          </p:txBody>
        </p:sp>
        <p:sp>
          <p:nvSpPr>
            <p:cNvPr id="70" name="Google Shape;70;p4"/>
            <p:cNvSpPr txBox="1"/>
            <p:nvPr/>
          </p:nvSpPr>
          <p:spPr>
            <a:xfrm>
              <a:off x="152400" y="533400"/>
              <a:ext cx="2219400" cy="1428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400">
                  <a:solidFill>
                    <a:srgbClr val="F2F6F9"/>
                  </a:solidFill>
                  <a:latin typeface="Calibri"/>
                  <a:ea typeface="Calibri"/>
                  <a:cs typeface="Calibri"/>
                  <a:sym typeface="Calibri"/>
                </a:rPr>
                <a:t>Specific Illness tag &amp; list</a:t>
              </a:r>
              <a:endParaRPr b="1" sz="1400">
                <a:solidFill>
                  <a:srgbClr val="F2F6F9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600"/>
                </a:spcAft>
                <a:buNone/>
              </a:pPr>
              <a:r>
                <a:rPr b="0" lang="en-US" sz="1100">
                  <a:solidFill>
                    <a:srgbClr val="8CA0B3"/>
                  </a:solidFill>
                  <a:latin typeface="Calibri"/>
                  <a:ea typeface="Calibri"/>
                  <a:cs typeface="Calibri"/>
                  <a:sym typeface="Calibri"/>
                </a:rPr>
                <a:t>Plan-level declaration precision</a:t>
              </a:r>
              <a:endParaRPr b="0" sz="1100">
                <a:solidFill>
                  <a:srgbClr val="8CA0B3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71" name="Google Shape;71;p4"/>
          <p:cNvGrpSpPr/>
          <p:nvPr/>
        </p:nvGrpSpPr>
        <p:grpSpPr>
          <a:xfrm>
            <a:off x="2119313" y="3952875"/>
            <a:ext cx="2524200" cy="2143200"/>
            <a:chOff x="0" y="0"/>
            <a:chExt cx="2524200" cy="2143200"/>
          </a:xfrm>
        </p:grpSpPr>
        <p:sp>
          <p:nvSpPr>
            <p:cNvPr id="72" name="Google Shape;72;p4"/>
            <p:cNvSpPr/>
            <p:nvPr/>
          </p:nvSpPr>
          <p:spPr>
            <a:xfrm>
              <a:off x="0" y="0"/>
              <a:ext cx="2524200" cy="2143200"/>
            </a:xfrm>
            <a:prstGeom prst="roundRect">
              <a:avLst>
                <a:gd fmla="val 4443" name="adj"/>
              </a:avLst>
            </a:prstGeom>
            <a:solidFill>
              <a:srgbClr val="0D1826"/>
            </a:solidFill>
            <a:ln cap="flat" cmpd="sng" w="14300">
              <a:solidFill>
                <a:srgbClr val="1E2E4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" name="Google Shape;73;p4"/>
            <p:cNvSpPr/>
            <p:nvPr/>
          </p:nvSpPr>
          <p:spPr>
            <a:xfrm>
              <a:off x="152400" y="152400"/>
              <a:ext cx="457200" cy="228600"/>
            </a:xfrm>
            <a:prstGeom prst="roundRect">
              <a:avLst>
                <a:gd fmla="val 50000" name="adj"/>
              </a:avLst>
            </a:prstGeom>
            <a:solidFill>
              <a:srgbClr val="8B7CF0">
                <a:alpha val="10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" name="Google Shape;74;p4"/>
            <p:cNvSpPr txBox="1"/>
            <p:nvPr/>
          </p:nvSpPr>
          <p:spPr>
            <a:xfrm>
              <a:off x="152400" y="152400"/>
              <a:ext cx="4572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000">
                  <a:solidFill>
                    <a:srgbClr val="8B7CF0"/>
                  </a:solidFill>
                  <a:latin typeface="Cambria"/>
                  <a:ea typeface="Cambria"/>
                  <a:cs typeface="Cambria"/>
                  <a:sym typeface="Cambria"/>
                </a:rPr>
                <a:t>05</a:t>
              </a:r>
              <a:endParaRPr b="1" sz="1000">
                <a:solidFill>
                  <a:srgbClr val="8B7CF0"/>
                </a:solidFill>
                <a:latin typeface="Cambria"/>
                <a:ea typeface="Cambria"/>
                <a:cs typeface="Cambria"/>
                <a:sym typeface="Cambria"/>
              </a:endParaRPr>
            </a:p>
          </p:txBody>
        </p:sp>
        <p:sp>
          <p:nvSpPr>
            <p:cNvPr id="75" name="Google Shape;75;p4"/>
            <p:cNvSpPr txBox="1"/>
            <p:nvPr/>
          </p:nvSpPr>
          <p:spPr>
            <a:xfrm>
              <a:off x="152400" y="533400"/>
              <a:ext cx="2219400" cy="1428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400">
                  <a:solidFill>
                    <a:srgbClr val="F2F6F9"/>
                  </a:solidFill>
                  <a:latin typeface="Calibri"/>
                  <a:ea typeface="Calibri"/>
                  <a:cs typeface="Calibri"/>
                  <a:sym typeface="Calibri"/>
                </a:rPr>
                <a:t>Quick Reference sidebar</a:t>
              </a:r>
              <a:endParaRPr b="1" sz="1400">
                <a:solidFill>
                  <a:srgbClr val="F2F6F9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600"/>
                </a:spcAft>
                <a:buNone/>
              </a:pPr>
              <a:r>
                <a:rPr b="0" lang="en-US" sz="1100">
                  <a:solidFill>
                    <a:srgbClr val="8CA0B3"/>
                  </a:solidFill>
                  <a:latin typeface="Calibri"/>
                  <a:ea typeface="Calibri"/>
                  <a:cs typeface="Calibri"/>
                  <a:sym typeface="Calibri"/>
                </a:rPr>
                <a:t>Overlap Rules, Payment Journey, Illness List</a:t>
              </a:r>
              <a:endParaRPr b="0" sz="1100">
                <a:solidFill>
                  <a:srgbClr val="8CA0B3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76" name="Google Shape;76;p4"/>
          <p:cNvGrpSpPr/>
          <p:nvPr/>
        </p:nvGrpSpPr>
        <p:grpSpPr>
          <a:xfrm>
            <a:off x="4833938" y="3952875"/>
            <a:ext cx="2524200" cy="2143200"/>
            <a:chOff x="0" y="0"/>
            <a:chExt cx="2524200" cy="2143200"/>
          </a:xfrm>
        </p:grpSpPr>
        <p:sp>
          <p:nvSpPr>
            <p:cNvPr id="77" name="Google Shape;77;p4"/>
            <p:cNvSpPr/>
            <p:nvPr/>
          </p:nvSpPr>
          <p:spPr>
            <a:xfrm>
              <a:off x="0" y="0"/>
              <a:ext cx="2524200" cy="2143200"/>
            </a:xfrm>
            <a:prstGeom prst="roundRect">
              <a:avLst>
                <a:gd fmla="val 4443" name="adj"/>
              </a:avLst>
            </a:prstGeom>
            <a:solidFill>
              <a:srgbClr val="0D1826"/>
            </a:solidFill>
            <a:ln cap="flat" cmpd="sng" w="14300">
              <a:solidFill>
                <a:srgbClr val="1E2E4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" name="Google Shape;78;p4"/>
            <p:cNvSpPr/>
            <p:nvPr/>
          </p:nvSpPr>
          <p:spPr>
            <a:xfrm>
              <a:off x="152400" y="152400"/>
              <a:ext cx="457200" cy="228600"/>
            </a:xfrm>
            <a:prstGeom prst="roundRect">
              <a:avLst>
                <a:gd fmla="val 50000" name="adj"/>
              </a:avLst>
            </a:prstGeom>
            <a:solidFill>
              <a:srgbClr val="3DD68C">
                <a:alpha val="10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" name="Google Shape;79;p4"/>
            <p:cNvSpPr txBox="1"/>
            <p:nvPr/>
          </p:nvSpPr>
          <p:spPr>
            <a:xfrm>
              <a:off x="152400" y="152400"/>
              <a:ext cx="4572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000">
                  <a:solidFill>
                    <a:srgbClr val="3DD68C"/>
                  </a:solidFill>
                  <a:latin typeface="Cambria"/>
                  <a:ea typeface="Cambria"/>
                  <a:cs typeface="Cambria"/>
                  <a:sym typeface="Cambria"/>
                </a:rPr>
                <a:t>06</a:t>
              </a:r>
              <a:endParaRPr b="1" sz="1000">
                <a:solidFill>
                  <a:srgbClr val="3DD68C"/>
                </a:solidFill>
                <a:latin typeface="Cambria"/>
                <a:ea typeface="Cambria"/>
                <a:cs typeface="Cambria"/>
                <a:sym typeface="Cambria"/>
              </a:endParaRPr>
            </a:p>
          </p:txBody>
        </p:sp>
        <p:sp>
          <p:nvSpPr>
            <p:cNvPr id="80" name="Google Shape;80;p4"/>
            <p:cNvSpPr txBox="1"/>
            <p:nvPr/>
          </p:nvSpPr>
          <p:spPr>
            <a:xfrm>
              <a:off x="152400" y="533400"/>
              <a:ext cx="2219400" cy="1428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400">
                  <a:solidFill>
                    <a:srgbClr val="F2F6F9"/>
                  </a:solidFill>
                  <a:latin typeface="Calibri"/>
                  <a:ea typeface="Calibri"/>
                  <a:cs typeface="Calibri"/>
                  <a:sym typeface="Calibri"/>
                </a:rPr>
                <a:t>My Activity Journal</a:t>
              </a:r>
              <a:endParaRPr b="1" sz="1400">
                <a:solidFill>
                  <a:srgbClr val="F2F6F9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600"/>
                </a:spcAft>
                <a:buNone/>
              </a:pPr>
              <a:r>
                <a:rPr b="0" lang="en-US" sz="1100">
                  <a:solidFill>
                    <a:srgbClr val="8CA0B3"/>
                  </a:solidFill>
                  <a:latin typeface="Calibri"/>
                  <a:ea typeface="Calibri"/>
                  <a:cs typeface="Calibri"/>
                  <a:sym typeface="Calibri"/>
                </a:rPr>
                <a:t>Every lookup, logged and searchable</a:t>
              </a:r>
              <a:endParaRPr b="0" sz="1100">
                <a:solidFill>
                  <a:srgbClr val="8CA0B3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81" name="Google Shape;81;p4"/>
          <p:cNvGrpSpPr/>
          <p:nvPr/>
        </p:nvGrpSpPr>
        <p:grpSpPr>
          <a:xfrm>
            <a:off x="7548563" y="3952875"/>
            <a:ext cx="2524200" cy="2143200"/>
            <a:chOff x="0" y="0"/>
            <a:chExt cx="2524200" cy="2143200"/>
          </a:xfrm>
        </p:grpSpPr>
        <p:sp>
          <p:nvSpPr>
            <p:cNvPr id="82" name="Google Shape;82;p4"/>
            <p:cNvSpPr/>
            <p:nvPr/>
          </p:nvSpPr>
          <p:spPr>
            <a:xfrm>
              <a:off x="0" y="0"/>
              <a:ext cx="2524200" cy="2143200"/>
            </a:xfrm>
            <a:prstGeom prst="roundRect">
              <a:avLst>
                <a:gd fmla="val 4443" name="adj"/>
              </a:avLst>
            </a:prstGeom>
            <a:solidFill>
              <a:srgbClr val="0D1826"/>
            </a:solidFill>
            <a:ln cap="flat" cmpd="sng" w="14300">
              <a:solidFill>
                <a:srgbClr val="1E2E4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" name="Google Shape;83;p4"/>
            <p:cNvSpPr/>
            <p:nvPr/>
          </p:nvSpPr>
          <p:spPr>
            <a:xfrm>
              <a:off x="152400" y="152400"/>
              <a:ext cx="457200" cy="228600"/>
            </a:xfrm>
            <a:prstGeom prst="roundRect">
              <a:avLst>
                <a:gd fmla="val 50000" name="adj"/>
              </a:avLst>
            </a:prstGeom>
            <a:solidFill>
              <a:srgbClr val="00D3F3">
                <a:alpha val="10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" name="Google Shape;84;p4"/>
            <p:cNvSpPr txBox="1"/>
            <p:nvPr/>
          </p:nvSpPr>
          <p:spPr>
            <a:xfrm>
              <a:off x="152400" y="152400"/>
              <a:ext cx="4572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000">
                  <a:solidFill>
                    <a:srgbClr val="00D3F3"/>
                  </a:solidFill>
                  <a:latin typeface="Cambria"/>
                  <a:ea typeface="Cambria"/>
                  <a:cs typeface="Cambria"/>
                  <a:sym typeface="Cambria"/>
                </a:rPr>
                <a:t>07</a:t>
              </a:r>
              <a:endParaRPr b="1" sz="1000">
                <a:solidFill>
                  <a:srgbClr val="00D3F3"/>
                </a:solidFill>
                <a:latin typeface="Cambria"/>
                <a:ea typeface="Cambria"/>
                <a:cs typeface="Cambria"/>
                <a:sym typeface="Cambria"/>
              </a:endParaRPr>
            </a:p>
          </p:txBody>
        </p:sp>
        <p:sp>
          <p:nvSpPr>
            <p:cNvPr id="85" name="Google Shape;85;p4"/>
            <p:cNvSpPr txBox="1"/>
            <p:nvPr/>
          </p:nvSpPr>
          <p:spPr>
            <a:xfrm>
              <a:off x="152400" y="533400"/>
              <a:ext cx="2219400" cy="1428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400">
                  <a:solidFill>
                    <a:srgbClr val="F2F6F9"/>
                  </a:solidFill>
                  <a:latin typeface="Calibri"/>
                  <a:ea typeface="Calibri"/>
                  <a:cs typeface="Calibri"/>
                  <a:sym typeface="Calibri"/>
                </a:rPr>
                <a:t>Quick Access drawer</a:t>
              </a:r>
              <a:endParaRPr b="1" sz="1400">
                <a:solidFill>
                  <a:srgbClr val="F2F6F9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600"/>
                </a:spcAft>
                <a:buNone/>
              </a:pPr>
              <a:r>
                <a:rPr b="0" lang="en-US" sz="1100">
                  <a:solidFill>
                    <a:srgbClr val="8CA0B3"/>
                  </a:solidFill>
                  <a:latin typeface="Calibri"/>
                  <a:ea typeface="Calibri"/>
                  <a:cs typeface="Calibri"/>
                  <a:sym typeface="Calibri"/>
                </a:rPr>
                <a:t>Resources and preview controls on demand</a:t>
              </a:r>
              <a:endParaRPr b="0" sz="1100">
                <a:solidFill>
                  <a:srgbClr val="8CA0B3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86" name="Google Shape;86;p4"/>
          <p:cNvSpPr/>
          <p:nvPr/>
        </p:nvSpPr>
        <p:spPr>
          <a:xfrm>
            <a:off x="502920" y="6519672"/>
            <a:ext cx="64008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850">
                <a:solidFill>
                  <a:srgbClr val="5C7086"/>
                </a:solidFill>
                <a:latin typeface="Calibri"/>
                <a:ea typeface="Calibri"/>
                <a:cs typeface="Calibri"/>
                <a:sym typeface="Calibri"/>
              </a:rPr>
              <a:t>DECLARATION ASSISTANT — YOUR PAYMENT ASSISTANT</a:t>
            </a:r>
            <a:endParaRPr sz="850">
              <a:solidFill>
                <a:srgbClr val="5C708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4"/>
          <p:cNvSpPr/>
          <p:nvPr/>
        </p:nvSpPr>
        <p:spPr>
          <a:xfrm>
            <a:off x="11521440" y="6519672"/>
            <a:ext cx="457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C7086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5C7086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1420"/>
        </a:solidFill>
      </p:bgPr>
    </p:bg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5"/>
          <p:cNvSpPr/>
          <p:nvPr/>
        </p:nvSpPr>
        <p:spPr>
          <a:xfrm>
            <a:off x="502920" y="475488"/>
            <a:ext cx="128016" cy="128016"/>
          </a:xfrm>
          <a:prstGeom prst="ellipse">
            <a:avLst/>
          </a:prstGeom>
          <a:solidFill>
            <a:srgbClr val="00D3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5"/>
          <p:cNvSpPr/>
          <p:nvPr/>
        </p:nvSpPr>
        <p:spPr>
          <a:xfrm>
            <a:off x="731520" y="365760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D3F3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0D3F3"/>
                </a:solidFill>
                <a:latin typeface="Calibri"/>
                <a:ea typeface="Calibri"/>
                <a:cs typeface="Calibri"/>
                <a:sym typeface="Calibri"/>
              </a:rPr>
              <a:t>PART 1 · GETTING STARTED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5"/>
          <p:cNvSpPr/>
          <p:nvPr/>
        </p:nvSpPr>
        <p:spPr>
          <a:xfrm>
            <a:off x="502920" y="685800"/>
            <a:ext cx="786384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Clr>
                <a:srgbClr val="F2F6F9"/>
              </a:buClr>
              <a:buSzPts val="3200"/>
              <a:buFont typeface="Cambria"/>
              <a:buNone/>
            </a:pPr>
            <a:r>
              <a:rPr b="1" i="0" lang="en-US" sz="3200" u="none" cap="none" strike="noStrike">
                <a:solidFill>
                  <a:srgbClr val="F2F6F9"/>
                </a:solidFill>
                <a:latin typeface="Cambria"/>
                <a:ea typeface="Cambria"/>
                <a:cs typeface="Cambria"/>
                <a:sym typeface="Cambria"/>
              </a:rPr>
              <a:t>Advisor Home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5"/>
          <p:cNvSpPr/>
          <p:nvPr/>
        </p:nvSpPr>
        <p:spPr>
          <a:xfrm>
            <a:off x="502920" y="1783080"/>
            <a:ext cx="4160520" cy="42062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77800" lvl="0" marL="177800" marR="0" rtl="0" algn="l">
              <a:lnSpc>
                <a:spcPct val="141379"/>
              </a:lnSpc>
              <a:spcBef>
                <a:spcPts val="0"/>
              </a:spcBef>
              <a:spcAft>
                <a:spcPts val="0"/>
              </a:spcAft>
              <a:buClr>
                <a:srgbClr val="8CA0B3"/>
              </a:buClr>
              <a:buSzPts val="1450"/>
              <a:buFont typeface="Calibri"/>
              <a:buChar char="▪"/>
            </a:pPr>
            <a:r>
              <a:rPr b="0" i="0" lang="en-US" sz="1450" u="none" cap="none" strike="noStrike">
                <a:solidFill>
                  <a:srgbClr val="8CA0B3"/>
                </a:solidFill>
                <a:latin typeface="Calibri"/>
                <a:ea typeface="Calibri"/>
                <a:cs typeface="Calibri"/>
                <a:sym typeface="Calibri"/>
              </a:rPr>
              <a:t>The landing page for every advisor session</a:t>
            </a:r>
            <a:r>
              <a:rPr lang="en-US" sz="1450">
                <a:solidFill>
                  <a:srgbClr val="8CA0B3"/>
                </a:solidFill>
                <a:latin typeface="Calibri"/>
                <a:ea typeface="Calibri"/>
                <a:cs typeface="Calibri"/>
                <a:sym typeface="Calibri"/>
              </a:rPr>
              <a:t>,</a:t>
            </a:r>
            <a:r>
              <a:rPr b="0" i="0" lang="en-US" sz="1450" u="none" cap="none" strike="noStrike">
                <a:solidFill>
                  <a:srgbClr val="8CA0B3"/>
                </a:solidFill>
                <a:latin typeface="Calibri"/>
                <a:ea typeface="Calibri"/>
                <a:cs typeface="Calibri"/>
                <a:sym typeface="Calibri"/>
              </a:rPr>
              <a:t> it sets the tone: “know what to declare, know where to declare.”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lnSpc>
                <a:spcPct val="141379"/>
              </a:lnSpc>
              <a:spcBef>
                <a:spcPts val="1400"/>
              </a:spcBef>
              <a:spcAft>
                <a:spcPts val="0"/>
              </a:spcAft>
              <a:buClr>
                <a:srgbClr val="8CA0B3"/>
              </a:buClr>
              <a:buSzPts val="1450"/>
              <a:buFont typeface="Calibri"/>
              <a:buChar char="▪"/>
            </a:pPr>
            <a:r>
              <a:rPr b="0" i="0" lang="en-US" sz="1450" u="none" cap="none" strike="noStrike">
                <a:solidFill>
                  <a:srgbClr val="8CA0B3"/>
                </a:solidFill>
                <a:latin typeface="Calibri"/>
                <a:ea typeface="Calibri"/>
                <a:cs typeface="Calibri"/>
                <a:sym typeface="Calibri"/>
              </a:rPr>
              <a:t>The Declaration Assistant identifies WHERE in the payment journey to disclose </a:t>
            </a:r>
            <a:r>
              <a:rPr lang="en-US" sz="1450">
                <a:solidFill>
                  <a:srgbClr val="8CA0B3"/>
                </a:solidFill>
                <a:latin typeface="Calibri"/>
                <a:ea typeface="Calibri"/>
                <a:cs typeface="Calibri"/>
                <a:sym typeface="Calibri"/>
              </a:rPr>
              <a:t>a PED</a:t>
            </a:r>
            <a:r>
              <a:rPr b="0" i="0" lang="en-US" sz="1450" u="none" cap="none" strike="noStrike">
                <a:solidFill>
                  <a:srgbClr val="8CA0B3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lnSpc>
                <a:spcPct val="141379"/>
              </a:lnSpc>
              <a:spcBef>
                <a:spcPts val="1400"/>
              </a:spcBef>
              <a:spcAft>
                <a:spcPts val="0"/>
              </a:spcAft>
              <a:buClr>
                <a:srgbClr val="8CA0B3"/>
              </a:buClr>
              <a:buSzPts val="1450"/>
              <a:buFont typeface="Calibri"/>
              <a:buChar char="▪"/>
            </a:pPr>
            <a:r>
              <a:rPr b="0" i="0" lang="en-US" sz="1450" u="none" cap="none" strike="noStrike">
                <a:solidFill>
                  <a:srgbClr val="8CA0B3"/>
                </a:solidFill>
                <a:latin typeface="Calibri"/>
                <a:ea typeface="Calibri"/>
                <a:cs typeface="Calibri"/>
                <a:sym typeface="Calibri"/>
              </a:rPr>
              <a:t>The System Warning banner is a standing reminder: results support your judgement, they don't replace it. Always verify before disclosing.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lnSpc>
                <a:spcPct val="141379"/>
              </a:lnSpc>
              <a:spcBef>
                <a:spcPts val="1400"/>
              </a:spcBef>
              <a:spcAft>
                <a:spcPts val="0"/>
              </a:spcAft>
              <a:buClr>
                <a:srgbClr val="8CA0B3"/>
              </a:buClr>
              <a:buSzPts val="1450"/>
              <a:buFont typeface="Calibri"/>
              <a:buChar char="▪"/>
            </a:pPr>
            <a:r>
              <a:rPr b="0" i="0" lang="en-US" sz="1450" u="none" cap="none" strike="noStrike">
                <a:solidFill>
                  <a:srgbClr val="8CA0B3"/>
                </a:solidFill>
                <a:latin typeface="Calibri"/>
                <a:ea typeface="Calibri"/>
                <a:cs typeface="Calibri"/>
                <a:sym typeface="Calibri"/>
              </a:rPr>
              <a:t>The Instruction Manual panel recaps five ground rules: multi-condition lookup, input accuracy, diagnoses only, output verification, and flagging mismatches.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5"/>
          <p:cNvSpPr/>
          <p:nvPr/>
        </p:nvSpPr>
        <p:spPr>
          <a:xfrm>
            <a:off x="4956048" y="2235139"/>
            <a:ext cx="6775704" cy="3622161"/>
          </a:xfrm>
          <a:prstGeom prst="roundRect">
            <a:avLst>
              <a:gd fmla="val 2020" name="adj"/>
            </a:avLst>
          </a:prstGeom>
          <a:solidFill>
            <a:srgbClr val="111C2B"/>
          </a:solidFill>
          <a:ln cap="flat" cmpd="sng" w="12700">
            <a:solidFill>
              <a:srgbClr val="1E2E42"/>
            </a:solidFill>
            <a:prstDash val="solid"/>
            <a:round/>
            <a:headEnd len="sm" w="sm" type="none"/>
            <a:tailEnd len="sm" w="sm" type="none"/>
          </a:ln>
          <a:effectLst>
            <a:outerShdw blurRad="228600" rotWithShape="0" algn="bl" dir="5400000" dist="76200">
              <a:srgbClr val="000000">
                <a:alpha val="4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sessions/optimistic-gifted-hawking/mnt/outputs/pptbuild/images/01_home.png" id="98" name="Google Shape;98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074920" y="2354011"/>
            <a:ext cx="6537960" cy="3384417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5"/>
          <p:cNvSpPr/>
          <p:nvPr/>
        </p:nvSpPr>
        <p:spPr>
          <a:xfrm>
            <a:off x="502920" y="6519672"/>
            <a:ext cx="6400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7086"/>
              </a:buClr>
              <a:buSzPts val="850"/>
              <a:buFont typeface="Calibri"/>
              <a:buNone/>
            </a:pPr>
            <a:r>
              <a:rPr lang="en-US" sz="850">
                <a:solidFill>
                  <a:srgbClr val="5C7086"/>
                </a:solidFill>
                <a:latin typeface="Calibri"/>
                <a:ea typeface="Calibri"/>
                <a:cs typeface="Calibri"/>
                <a:sym typeface="Calibri"/>
              </a:rPr>
              <a:t>DECLARATION ASSISTANT — YOUR PAYMENT ASSISTANT</a:t>
            </a:r>
            <a:endParaRPr sz="850">
              <a:solidFill>
                <a:srgbClr val="5C708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5"/>
          <p:cNvSpPr/>
          <p:nvPr/>
        </p:nvSpPr>
        <p:spPr>
          <a:xfrm>
            <a:off x="11521440" y="6519672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C7086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5C7086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1420"/>
        </a:solidFill>
      </p:bgPr>
    </p:bg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6"/>
          <p:cNvSpPr/>
          <p:nvPr/>
        </p:nvSpPr>
        <p:spPr>
          <a:xfrm>
            <a:off x="502920" y="475488"/>
            <a:ext cx="128100" cy="128100"/>
          </a:xfrm>
          <a:prstGeom prst="ellipse">
            <a:avLst/>
          </a:prstGeom>
          <a:solidFill>
            <a:srgbClr val="00D3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6"/>
          <p:cNvSpPr/>
          <p:nvPr/>
        </p:nvSpPr>
        <p:spPr>
          <a:xfrm>
            <a:off x="731520" y="365760"/>
            <a:ext cx="73152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D3F3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0D3F3"/>
                </a:solidFill>
                <a:latin typeface="Calibri"/>
                <a:ea typeface="Calibri"/>
                <a:cs typeface="Calibri"/>
                <a:sym typeface="Calibri"/>
              </a:rPr>
              <a:t>PART 1 · GETTING STARTED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6"/>
          <p:cNvSpPr/>
          <p:nvPr/>
        </p:nvSpPr>
        <p:spPr>
          <a:xfrm>
            <a:off x="502920" y="685800"/>
            <a:ext cx="78639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Clr>
                <a:srgbClr val="F2F6F9"/>
              </a:buClr>
              <a:buSzPts val="3200"/>
              <a:buFont typeface="Cambria"/>
              <a:buNone/>
            </a:pPr>
            <a:r>
              <a:rPr b="1" i="0" lang="en-US" sz="3200" u="none" cap="none" strike="noStrike">
                <a:solidFill>
                  <a:srgbClr val="F2F6F9"/>
                </a:solidFill>
                <a:latin typeface="Cambria"/>
                <a:ea typeface="Cambria"/>
                <a:cs typeface="Cambria"/>
                <a:sym typeface="Cambria"/>
              </a:rPr>
              <a:t>Starting a Lookup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6"/>
          <p:cNvSpPr/>
          <p:nvPr/>
        </p:nvSpPr>
        <p:spPr>
          <a:xfrm>
            <a:off x="502920" y="1809750"/>
            <a:ext cx="4160400" cy="42864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50">
                <a:solidFill>
                  <a:srgbClr val="00D3F3"/>
                </a:solidFill>
                <a:latin typeface="Calibri"/>
                <a:ea typeface="Calibri"/>
                <a:cs typeface="Calibri"/>
                <a:sym typeface="Calibri"/>
              </a:rPr>
              <a:t>Step 01</a:t>
            </a:r>
            <a:endParaRPr b="1" sz="1050">
              <a:solidFill>
                <a:srgbClr val="00D3F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15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F2F6F9"/>
                </a:solidFill>
                <a:latin typeface="Calibri"/>
                <a:ea typeface="Calibri"/>
                <a:cs typeface="Calibri"/>
                <a:sym typeface="Calibri"/>
              </a:rPr>
              <a:t>Define Core Inputs</a:t>
            </a:r>
            <a:endParaRPr b="1" sz="1400">
              <a:solidFill>
                <a:srgbClr val="F2F6F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lang="en-US" sz="1150">
                <a:solidFill>
                  <a:srgbClr val="8CA0B3"/>
                </a:solidFill>
                <a:latin typeface="Calibri"/>
                <a:ea typeface="Calibri"/>
                <a:cs typeface="Calibri"/>
                <a:sym typeface="Calibri"/>
              </a:rPr>
              <a:t>Two inputs drive every lookup: Health Insurance Plan and Pre Existing Condition.</a:t>
            </a:r>
            <a:endParaRPr b="0" sz="1150">
              <a:solidFill>
                <a:srgbClr val="8CA0B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b="1" lang="en-US" sz="1050">
                <a:solidFill>
                  <a:srgbClr val="00D3F3"/>
                </a:solidFill>
                <a:latin typeface="Calibri"/>
                <a:ea typeface="Calibri"/>
                <a:cs typeface="Calibri"/>
                <a:sym typeface="Calibri"/>
              </a:rPr>
              <a:t>Step 02</a:t>
            </a:r>
            <a:endParaRPr b="1" sz="1050">
              <a:solidFill>
                <a:srgbClr val="00D3F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15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F2F6F9"/>
                </a:solidFill>
                <a:latin typeface="Calibri"/>
                <a:ea typeface="Calibri"/>
                <a:cs typeface="Calibri"/>
                <a:sym typeface="Calibri"/>
              </a:rPr>
              <a:t>Select Plan First</a:t>
            </a:r>
            <a:endParaRPr b="1" sz="1400">
              <a:solidFill>
                <a:srgbClr val="F2F6F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lang="en-US" sz="1150">
                <a:solidFill>
                  <a:srgbClr val="8CA0B3"/>
                </a:solidFill>
                <a:latin typeface="Calibri"/>
                <a:ea typeface="Calibri"/>
                <a:cs typeface="Calibri"/>
                <a:sym typeface="Calibri"/>
              </a:rPr>
              <a:t>Select the customer's plan first — matching logic is plan-specific.</a:t>
            </a:r>
            <a:endParaRPr b="0" sz="1150">
              <a:solidFill>
                <a:srgbClr val="8CA0B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b="1" lang="en-US" sz="1050">
                <a:solidFill>
                  <a:srgbClr val="00D3F3"/>
                </a:solidFill>
                <a:latin typeface="Calibri"/>
                <a:ea typeface="Calibri"/>
                <a:cs typeface="Calibri"/>
                <a:sym typeface="Calibri"/>
              </a:rPr>
              <a:t>Step 03</a:t>
            </a:r>
            <a:endParaRPr b="1" sz="1050">
              <a:solidFill>
                <a:srgbClr val="00D3F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15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F2F6F9"/>
                </a:solidFill>
                <a:latin typeface="Calibri"/>
                <a:ea typeface="Calibri"/>
                <a:cs typeface="Calibri"/>
                <a:sym typeface="Calibri"/>
              </a:rPr>
              <a:t>Queue Conditions</a:t>
            </a:r>
            <a:endParaRPr b="1" sz="1400">
              <a:solidFill>
                <a:srgbClr val="F2F6F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lang="en-US" sz="1150">
                <a:solidFill>
                  <a:srgbClr val="8CA0B3"/>
                </a:solidFill>
                <a:latin typeface="Calibri"/>
                <a:ea typeface="Calibri"/>
                <a:cs typeface="Calibri"/>
                <a:sym typeface="Calibri"/>
              </a:rPr>
              <a:t>Type or pick a PED from the dropdown, then click + ADD to queue it. Nothing is searched yet.</a:t>
            </a:r>
            <a:endParaRPr b="0" sz="1150">
              <a:solidFill>
                <a:srgbClr val="8CA0B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b="1" lang="en-US" sz="1050">
                <a:solidFill>
                  <a:srgbClr val="00D3F3"/>
                </a:solidFill>
                <a:latin typeface="Calibri"/>
                <a:ea typeface="Calibri"/>
                <a:cs typeface="Calibri"/>
                <a:sym typeface="Calibri"/>
              </a:rPr>
              <a:t>Step 04</a:t>
            </a:r>
            <a:endParaRPr b="1" sz="1050">
              <a:solidFill>
                <a:srgbClr val="00D3F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15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F2F6F9"/>
                </a:solidFill>
                <a:latin typeface="Calibri"/>
                <a:ea typeface="Calibri"/>
                <a:cs typeface="Calibri"/>
                <a:sym typeface="Calibri"/>
              </a:rPr>
              <a:t>Search Smart</a:t>
            </a:r>
            <a:endParaRPr b="1" sz="1400">
              <a:solidFill>
                <a:srgbClr val="F2F6F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lang="en-US" sz="1150">
                <a:solidFill>
                  <a:srgbClr val="8CA0B3"/>
                </a:solidFill>
                <a:latin typeface="Calibri"/>
                <a:ea typeface="Calibri"/>
                <a:cs typeface="Calibri"/>
                <a:sym typeface="Calibri"/>
              </a:rPr>
              <a:t>Use dropdown suggestions when available to reduce spelling errors; free-text entry works when a condition isn't listed.</a:t>
            </a:r>
            <a:br>
              <a:rPr b="0" lang="en-US" sz="1150">
                <a:solidFill>
                  <a:srgbClr val="8CA0B3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b="0" lang="en-US" sz="1150">
                <a:solidFill>
                  <a:srgbClr val="8CA0B3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lang="en-US" sz="1050">
                <a:solidFill>
                  <a:srgbClr val="00D3F3"/>
                </a:solidFill>
                <a:latin typeface="Calibri"/>
                <a:ea typeface="Calibri"/>
                <a:cs typeface="Calibri"/>
                <a:sym typeface="Calibri"/>
              </a:rPr>
              <a:t>Step 05</a:t>
            </a:r>
            <a:endParaRPr b="1" sz="1050">
              <a:solidFill>
                <a:srgbClr val="00D3F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15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>
                <a:solidFill>
                  <a:srgbClr val="F2F6F9"/>
                </a:solidFill>
                <a:latin typeface="Calibri"/>
                <a:ea typeface="Calibri"/>
                <a:cs typeface="Calibri"/>
                <a:sym typeface="Calibri"/>
              </a:rPr>
              <a:t>Stay Updated</a:t>
            </a:r>
            <a:endParaRPr b="1">
              <a:solidFill>
                <a:srgbClr val="F2F6F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50">
                <a:solidFill>
                  <a:srgbClr val="8CA0B3"/>
                </a:solidFill>
                <a:latin typeface="Calibri"/>
                <a:ea typeface="Calibri"/>
                <a:cs typeface="Calibri"/>
                <a:sym typeface="Calibri"/>
              </a:rPr>
              <a:t>The Updates Feed will show live General and QA Announcements</a:t>
            </a:r>
            <a:endParaRPr sz="1150">
              <a:solidFill>
                <a:srgbClr val="8CA0B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6"/>
          <p:cNvSpPr/>
          <p:nvPr/>
        </p:nvSpPr>
        <p:spPr>
          <a:xfrm>
            <a:off x="4953000" y="1809750"/>
            <a:ext cx="6734100" cy="4095900"/>
          </a:xfrm>
          <a:prstGeom prst="roundRect">
            <a:avLst>
              <a:gd fmla="val 2325" name="adj"/>
            </a:avLst>
          </a:prstGeom>
          <a:solidFill>
            <a:srgbClr val="111C2B"/>
          </a:solidFill>
          <a:ln cap="flat" cmpd="sng" w="14300">
            <a:solidFill>
              <a:srgbClr val="1E2E42"/>
            </a:solidFill>
            <a:prstDash val="solid"/>
            <a:round/>
            <a:headEnd len="sm" w="sm" type="none"/>
            <a:tailEnd len="sm" w="sm" type="none"/>
          </a:ln>
          <a:effectLst>
            <a:outerShdw blurRad="228600" rotWithShape="0" algn="bl" dir="5400000" dist="76200">
              <a:srgbClr val="000000">
                <a:alpha val="45098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11" name="Google Shape;111;p6"/>
          <p:cNvPicPr preferRelativeResize="0"/>
          <p:nvPr/>
        </p:nvPicPr>
        <p:blipFill rotWithShape="1">
          <a:blip r:embed="rId3">
            <a:alphaModFix/>
          </a:blip>
          <a:srcRect b="0" l="6461" r="6469" t="0"/>
          <a:stretch/>
        </p:blipFill>
        <p:spPr>
          <a:xfrm>
            <a:off x="5067300" y="1924050"/>
            <a:ext cx="6505500" cy="3867300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6"/>
          <p:cNvSpPr/>
          <p:nvPr/>
        </p:nvSpPr>
        <p:spPr>
          <a:xfrm>
            <a:off x="502920" y="6519672"/>
            <a:ext cx="64008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850">
                <a:solidFill>
                  <a:srgbClr val="5C7086"/>
                </a:solidFill>
                <a:latin typeface="Calibri"/>
                <a:ea typeface="Calibri"/>
                <a:cs typeface="Calibri"/>
                <a:sym typeface="Calibri"/>
              </a:rPr>
              <a:t>DECLARATION ASSISTANT — YOUR PAYMENT ASSISTANT</a:t>
            </a:r>
            <a:endParaRPr sz="850">
              <a:solidFill>
                <a:srgbClr val="5C708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6"/>
          <p:cNvSpPr/>
          <p:nvPr/>
        </p:nvSpPr>
        <p:spPr>
          <a:xfrm>
            <a:off x="11521440" y="6519672"/>
            <a:ext cx="457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C7086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5C7086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1420"/>
        </a:solidFill>
      </p:bgPr>
    </p:bg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7"/>
          <p:cNvSpPr/>
          <p:nvPr/>
        </p:nvSpPr>
        <p:spPr>
          <a:xfrm>
            <a:off x="502920" y="475488"/>
            <a:ext cx="128100" cy="128100"/>
          </a:xfrm>
          <a:prstGeom prst="ellipse">
            <a:avLst/>
          </a:prstGeom>
          <a:solidFill>
            <a:srgbClr val="00D3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7"/>
          <p:cNvSpPr/>
          <p:nvPr/>
        </p:nvSpPr>
        <p:spPr>
          <a:xfrm>
            <a:off x="731520" y="365760"/>
            <a:ext cx="73152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D3F3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0D3F3"/>
                </a:solidFill>
                <a:latin typeface="Calibri"/>
                <a:ea typeface="Calibri"/>
                <a:cs typeface="Calibri"/>
                <a:sym typeface="Calibri"/>
              </a:rPr>
              <a:t>PART </a:t>
            </a:r>
            <a:r>
              <a:rPr b="1" lang="en-US" sz="1200">
                <a:solidFill>
                  <a:srgbClr val="00D3F3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b="1" i="0" lang="en-US" sz="1200" u="none" cap="none" strike="noStrike">
                <a:solidFill>
                  <a:srgbClr val="00D3F3"/>
                </a:solidFill>
                <a:latin typeface="Calibri"/>
                <a:ea typeface="Calibri"/>
                <a:cs typeface="Calibri"/>
                <a:sym typeface="Calibri"/>
              </a:rPr>
              <a:t> · GETTING STARTED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7"/>
          <p:cNvSpPr/>
          <p:nvPr/>
        </p:nvSpPr>
        <p:spPr>
          <a:xfrm>
            <a:off x="502920" y="685800"/>
            <a:ext cx="78639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Clr>
                <a:srgbClr val="F2F6F9"/>
              </a:buClr>
              <a:buSzPts val="3200"/>
              <a:buFont typeface="Cambria"/>
              <a:buNone/>
            </a:pPr>
            <a:r>
              <a:rPr b="1" i="0" lang="en-US" sz="3200" u="none" cap="none" strike="noStrike">
                <a:solidFill>
                  <a:srgbClr val="F2F6F9"/>
                </a:solidFill>
                <a:latin typeface="Cambria"/>
                <a:ea typeface="Cambria"/>
                <a:cs typeface="Cambria"/>
                <a:sym typeface="Cambria"/>
              </a:rPr>
              <a:t>Queue Every Condition First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7"/>
          <p:cNvSpPr/>
          <p:nvPr/>
        </p:nvSpPr>
        <p:spPr>
          <a:xfrm>
            <a:off x="502920" y="1783080"/>
            <a:ext cx="4160400" cy="42063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>
                <a:solidFill>
                  <a:srgbClr val="00D3F3"/>
                </a:solidFill>
                <a:latin typeface="Calibri"/>
                <a:ea typeface="Calibri"/>
                <a:cs typeface="Calibri"/>
                <a:sym typeface="Calibri"/>
              </a:rPr>
              <a:t>Step 01</a:t>
            </a:r>
            <a:endParaRPr b="1" i="0" sz="1050">
              <a:solidFill>
                <a:srgbClr val="00D3F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150"/>
              </a:spcBef>
              <a:spcAft>
                <a:spcPts val="0"/>
              </a:spcAft>
              <a:buNone/>
            </a:pPr>
            <a:r>
              <a:rPr b="1" i="0" lang="en-US" sz="1400">
                <a:solidFill>
                  <a:srgbClr val="F2F6F9"/>
                </a:solidFill>
                <a:latin typeface="Calibri"/>
                <a:ea typeface="Calibri"/>
                <a:cs typeface="Calibri"/>
                <a:sym typeface="Calibri"/>
              </a:rPr>
              <a:t>Queue All Conditions</a:t>
            </a:r>
            <a:endParaRPr b="1" i="0" sz="1050">
              <a:solidFill>
                <a:srgbClr val="00D3F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150">
                <a:solidFill>
                  <a:srgbClr val="8CA0B3"/>
                </a:solidFill>
                <a:latin typeface="Calibri"/>
                <a:ea typeface="Calibri"/>
                <a:cs typeface="Calibri"/>
                <a:sym typeface="Calibri"/>
              </a:rPr>
              <a:t>Add all of a customer's pre-existing conditions to the queue before searching — e.g. Diabetes, Hypothyroidism, Asthma, Pancreatitis.</a:t>
            </a:r>
            <a:endParaRPr b="1" i="0" sz="1050">
              <a:solidFill>
                <a:srgbClr val="00D3F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i="0" lang="en-US" sz="1050">
                <a:solidFill>
                  <a:srgbClr val="00D3F3"/>
                </a:solidFill>
                <a:latin typeface="Calibri"/>
                <a:ea typeface="Calibri"/>
                <a:cs typeface="Calibri"/>
                <a:sym typeface="Calibri"/>
              </a:rPr>
              <a:t>Step 02</a:t>
            </a:r>
            <a:endParaRPr b="1" i="0" sz="1050">
              <a:solidFill>
                <a:srgbClr val="00D3F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150"/>
              </a:spcBef>
              <a:spcAft>
                <a:spcPts val="0"/>
              </a:spcAft>
              <a:buNone/>
            </a:pPr>
            <a:r>
              <a:rPr b="1" i="0" lang="en-US" sz="1400">
                <a:solidFill>
                  <a:srgbClr val="F2F6F9"/>
                </a:solidFill>
                <a:latin typeface="Calibri"/>
                <a:ea typeface="Calibri"/>
                <a:cs typeface="Calibri"/>
                <a:sym typeface="Calibri"/>
              </a:rPr>
              <a:t>Verify the Counter</a:t>
            </a:r>
            <a:endParaRPr b="1" i="0" sz="1050">
              <a:solidFill>
                <a:srgbClr val="00D3F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150">
                <a:solidFill>
                  <a:srgbClr val="8CA0B3"/>
                </a:solidFill>
                <a:latin typeface="Calibri"/>
                <a:ea typeface="Calibri"/>
                <a:cs typeface="Calibri"/>
                <a:sym typeface="Calibri"/>
              </a:rPr>
              <a:t>The TOTAL QUEUE counter confirms exactly what's about to be mapped before you trigger the search.</a:t>
            </a:r>
            <a:endParaRPr b="1" i="0" sz="1050">
              <a:solidFill>
                <a:srgbClr val="00D3F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i="0" lang="en-US" sz="1050">
                <a:solidFill>
                  <a:srgbClr val="00D3F3"/>
                </a:solidFill>
                <a:latin typeface="Calibri"/>
                <a:ea typeface="Calibri"/>
                <a:cs typeface="Calibri"/>
                <a:sym typeface="Calibri"/>
              </a:rPr>
              <a:t>Step 03</a:t>
            </a:r>
            <a:endParaRPr b="1" i="0" sz="1050">
              <a:solidFill>
                <a:srgbClr val="00D3F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150"/>
              </a:spcBef>
              <a:spcAft>
                <a:spcPts val="0"/>
              </a:spcAft>
              <a:buNone/>
            </a:pPr>
            <a:r>
              <a:rPr b="1" i="0" lang="en-US" sz="1400">
                <a:solidFill>
                  <a:srgbClr val="F2F6F9"/>
                </a:solidFill>
                <a:latin typeface="Calibri"/>
                <a:ea typeface="Calibri"/>
                <a:cs typeface="Calibri"/>
                <a:sym typeface="Calibri"/>
              </a:rPr>
              <a:t>Find a Match</a:t>
            </a:r>
            <a:endParaRPr b="1" i="0" sz="1050">
              <a:solidFill>
                <a:srgbClr val="00D3F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150">
                <a:solidFill>
                  <a:srgbClr val="8CA0B3"/>
                </a:solidFill>
                <a:latin typeface="Calibri"/>
                <a:ea typeface="Calibri"/>
                <a:cs typeface="Calibri"/>
                <a:sym typeface="Calibri"/>
              </a:rPr>
              <a:t>Click FIND A MATCH only once every known condition is queued — each one is mapped sequentially.</a:t>
            </a:r>
            <a:endParaRPr b="1" i="0" sz="1050">
              <a:solidFill>
                <a:srgbClr val="00D3F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i="0" lang="en-US" sz="1050">
                <a:solidFill>
                  <a:srgbClr val="00D3F3"/>
                </a:solidFill>
                <a:latin typeface="Calibri"/>
                <a:ea typeface="Calibri"/>
                <a:cs typeface="Calibri"/>
                <a:sym typeface="Calibri"/>
              </a:rPr>
              <a:t>Step 04</a:t>
            </a:r>
            <a:endParaRPr b="1" i="0" sz="1050">
              <a:solidFill>
                <a:srgbClr val="00D3F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150"/>
              </a:spcBef>
              <a:spcAft>
                <a:spcPts val="0"/>
              </a:spcAft>
              <a:buNone/>
            </a:pPr>
            <a:r>
              <a:rPr b="1" i="0" lang="en-US" sz="1400">
                <a:solidFill>
                  <a:srgbClr val="F2F6F9"/>
                </a:solidFill>
                <a:latin typeface="Calibri"/>
                <a:ea typeface="Calibri"/>
                <a:cs typeface="Calibri"/>
                <a:sym typeface="Calibri"/>
              </a:rPr>
              <a:t>Reset to Start Over</a:t>
            </a:r>
            <a:endParaRPr b="1" i="0" sz="1050">
              <a:solidFill>
                <a:srgbClr val="00D3F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150">
                <a:solidFill>
                  <a:srgbClr val="8CA0B3"/>
                </a:solidFill>
                <a:latin typeface="Calibri"/>
                <a:ea typeface="Calibri"/>
                <a:cs typeface="Calibri"/>
                <a:sym typeface="Calibri"/>
              </a:rPr>
              <a:t>RESET FIELDS clears the entire queue instantly if you need to start fresh with a different customer.</a:t>
            </a:r>
            <a:endParaRPr b="1" i="0" sz="1050">
              <a:solidFill>
                <a:srgbClr val="00D3F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7"/>
          <p:cNvSpPr/>
          <p:nvPr/>
        </p:nvSpPr>
        <p:spPr>
          <a:xfrm>
            <a:off x="4956048" y="2235139"/>
            <a:ext cx="6775800" cy="3622200"/>
          </a:xfrm>
          <a:prstGeom prst="roundRect">
            <a:avLst>
              <a:gd fmla="val 2020" name="adj"/>
            </a:avLst>
          </a:prstGeom>
          <a:solidFill>
            <a:srgbClr val="111C2B"/>
          </a:solidFill>
          <a:ln cap="flat" cmpd="sng" w="12700">
            <a:solidFill>
              <a:srgbClr val="1E2E42"/>
            </a:solidFill>
            <a:prstDash val="solid"/>
            <a:round/>
            <a:headEnd len="sm" w="sm" type="none"/>
            <a:tailEnd len="sm" w="sm" type="none"/>
          </a:ln>
          <a:effectLst>
            <a:outerShdw blurRad="228600" rotWithShape="0" algn="bl" dir="5400000" dist="76200">
              <a:srgbClr val="000000">
                <a:alpha val="4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sessions/optimistic-gifted-hawking/mnt/outputs/pptbuild/images/03_queue_4peds.png" id="124" name="Google Shape;124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074920" y="2354011"/>
            <a:ext cx="6537962" cy="3384416"/>
          </a:xfrm>
          <a:prstGeom prst="rect">
            <a:avLst/>
          </a:prstGeom>
          <a:noFill/>
          <a:ln>
            <a:noFill/>
          </a:ln>
        </p:spPr>
      </p:pic>
      <p:sp>
        <p:nvSpPr>
          <p:cNvPr id="125" name="Google Shape;125;p7"/>
          <p:cNvSpPr/>
          <p:nvPr/>
        </p:nvSpPr>
        <p:spPr>
          <a:xfrm>
            <a:off x="502920" y="6519672"/>
            <a:ext cx="64008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850">
                <a:solidFill>
                  <a:srgbClr val="5C7086"/>
                </a:solidFill>
                <a:latin typeface="Calibri"/>
                <a:ea typeface="Calibri"/>
                <a:cs typeface="Calibri"/>
                <a:sym typeface="Calibri"/>
              </a:rPr>
              <a:t>DECLARATION ASSISTANT — YOUR PAYMENT ASSISTANT</a:t>
            </a:r>
            <a:endParaRPr sz="850">
              <a:solidFill>
                <a:srgbClr val="5C708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7"/>
          <p:cNvSpPr/>
          <p:nvPr/>
        </p:nvSpPr>
        <p:spPr>
          <a:xfrm>
            <a:off x="11521440" y="6519672"/>
            <a:ext cx="457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C7086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5C7086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1420"/>
        </a:solidFill>
      </p:bgPr>
    </p:bg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8"/>
          <p:cNvSpPr/>
          <p:nvPr/>
        </p:nvSpPr>
        <p:spPr>
          <a:xfrm>
            <a:off x="502920" y="475488"/>
            <a:ext cx="128100" cy="128100"/>
          </a:xfrm>
          <a:prstGeom prst="ellipse">
            <a:avLst/>
          </a:prstGeom>
          <a:solidFill>
            <a:srgbClr val="3B93E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8"/>
          <p:cNvSpPr/>
          <p:nvPr/>
        </p:nvSpPr>
        <p:spPr>
          <a:xfrm>
            <a:off x="731520" y="365760"/>
            <a:ext cx="73152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B93E0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3B93E0"/>
                </a:solidFill>
                <a:latin typeface="Calibri"/>
                <a:ea typeface="Calibri"/>
                <a:cs typeface="Calibri"/>
                <a:sym typeface="Calibri"/>
              </a:rPr>
              <a:t>PART 2 · INTERPRETING RESULTS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8"/>
          <p:cNvSpPr/>
          <p:nvPr/>
        </p:nvSpPr>
        <p:spPr>
          <a:xfrm>
            <a:off x="502920" y="685800"/>
            <a:ext cx="78639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Clr>
                <a:srgbClr val="F2F6F9"/>
              </a:buClr>
              <a:buSzPts val="3200"/>
              <a:buFont typeface="Cambria"/>
              <a:buNone/>
            </a:pPr>
            <a:r>
              <a:rPr b="1" i="0" lang="en-US" sz="3200" u="none" cap="none" strike="noStrike">
                <a:solidFill>
                  <a:srgbClr val="F2F6F9"/>
                </a:solidFill>
                <a:latin typeface="Cambria"/>
                <a:ea typeface="Cambria"/>
                <a:cs typeface="Cambria"/>
                <a:sym typeface="Cambria"/>
              </a:rPr>
              <a:t>Every PED Gets a Match </a:t>
            </a:r>
            <a:r>
              <a:rPr b="1" lang="en-US" sz="3200">
                <a:solidFill>
                  <a:srgbClr val="F2F6F9"/>
                </a:solidFill>
                <a:latin typeface="Cambria"/>
                <a:ea typeface="Cambria"/>
                <a:cs typeface="Cambria"/>
                <a:sym typeface="Cambria"/>
              </a:rPr>
              <a:t>Result and Mapping Logic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8"/>
          <p:cNvSpPr/>
          <p:nvPr/>
        </p:nvSpPr>
        <p:spPr>
          <a:xfrm>
            <a:off x="502920" y="1666875"/>
            <a:ext cx="4160400" cy="44292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38100" lIns="38100" spcFirstLastPara="1" rIns="38100" wrap="square" tIns="381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rgbClr val="3B93E0"/>
                </a:solidFill>
                <a:latin typeface="Calibri"/>
                <a:ea typeface="Calibri"/>
                <a:cs typeface="Calibri"/>
                <a:sym typeface="Calibri"/>
              </a:rPr>
              <a:t>01 Condition Cards</a:t>
            </a:r>
            <a:endParaRPr b="1" sz="1000">
              <a:solidFill>
                <a:srgbClr val="3B93E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15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F2F6F9"/>
                </a:solidFill>
                <a:latin typeface="Calibri"/>
                <a:ea typeface="Calibri"/>
                <a:cs typeface="Calibri"/>
                <a:sym typeface="Calibri"/>
              </a:rPr>
              <a:t>Individualized Results</a:t>
            </a:r>
            <a:endParaRPr b="1" sz="1300">
              <a:solidFill>
                <a:srgbClr val="F2F6F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150"/>
              </a:spcBef>
              <a:spcAft>
                <a:spcPts val="0"/>
              </a:spcAft>
              <a:buNone/>
            </a:pPr>
            <a:r>
              <a:rPr b="0" lang="en-US" sz="1150">
                <a:solidFill>
                  <a:srgbClr val="8CA0B3"/>
                </a:solidFill>
                <a:latin typeface="Calibri"/>
                <a:ea typeface="Calibri"/>
                <a:cs typeface="Calibri"/>
                <a:sym typeface="Calibri"/>
              </a:rPr>
              <a:t>Each queued condition returns as its own card: the PED name, the matching declaration question, and a colored match tag.</a:t>
            </a:r>
            <a:endParaRPr b="0" sz="1150">
              <a:solidFill>
                <a:srgbClr val="8CA0B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rgbClr val="3B93E0"/>
                </a:solidFill>
                <a:latin typeface="Calibri"/>
                <a:ea typeface="Calibri"/>
                <a:cs typeface="Calibri"/>
                <a:sym typeface="Calibri"/>
              </a:rPr>
              <a:t>02 Match Tags</a:t>
            </a:r>
            <a:endParaRPr b="1" sz="1000">
              <a:solidFill>
                <a:srgbClr val="3B93E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15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F2F6F9"/>
                </a:solidFill>
                <a:latin typeface="Calibri"/>
                <a:ea typeface="Calibri"/>
                <a:cs typeface="Calibri"/>
                <a:sym typeface="Calibri"/>
              </a:rPr>
              <a:t>Broader Categorization</a:t>
            </a:r>
            <a:endParaRPr b="1" sz="1300">
              <a:solidFill>
                <a:srgbClr val="F2F6F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150"/>
              </a:spcBef>
              <a:spcAft>
                <a:spcPts val="0"/>
              </a:spcAft>
              <a:buNone/>
            </a:pPr>
            <a:r>
              <a:rPr lang="en-US" sz="1150">
                <a:solidFill>
                  <a:srgbClr val="8CA0B3"/>
                </a:solidFill>
                <a:latin typeface="Calibri"/>
                <a:ea typeface="Calibri"/>
                <a:cs typeface="Calibri"/>
                <a:sym typeface="Calibri"/>
              </a:rPr>
              <a:t>Match tag defined how the mapping was done. For example, Category m</a:t>
            </a:r>
            <a:r>
              <a:rPr b="0" lang="en-US" sz="1150">
                <a:solidFill>
                  <a:srgbClr val="8CA0B3"/>
                </a:solidFill>
                <a:latin typeface="Calibri"/>
                <a:ea typeface="Calibri"/>
                <a:cs typeface="Calibri"/>
                <a:sym typeface="Calibri"/>
              </a:rPr>
              <a:t>atch</a:t>
            </a:r>
            <a:r>
              <a:rPr lang="en-US" sz="1150">
                <a:solidFill>
                  <a:srgbClr val="8CA0B3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lang="en-US" sz="1150">
                <a:solidFill>
                  <a:srgbClr val="8CA0B3"/>
                </a:solidFill>
                <a:latin typeface="Calibri"/>
                <a:ea typeface="Calibri"/>
                <a:cs typeface="Calibri"/>
                <a:sym typeface="Calibri"/>
              </a:rPr>
              <a:t>mean the condition falls under a broader declared category — e.g. "Hypothyroidism" matches under Endocrine / Hormonal.</a:t>
            </a:r>
            <a:endParaRPr b="0" sz="1150">
              <a:solidFill>
                <a:srgbClr val="8CA0B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rgbClr val="3B93E0"/>
                </a:solidFill>
                <a:latin typeface="Calibri"/>
                <a:ea typeface="Calibri"/>
                <a:cs typeface="Calibri"/>
                <a:sym typeface="Calibri"/>
              </a:rPr>
              <a:t>03 Mapping Logic</a:t>
            </a:r>
            <a:endParaRPr b="1" sz="1000">
              <a:solidFill>
                <a:srgbClr val="3B93E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15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F2F6F9"/>
                </a:solidFill>
                <a:latin typeface="Calibri"/>
                <a:ea typeface="Calibri"/>
                <a:cs typeface="Calibri"/>
                <a:sym typeface="Calibri"/>
              </a:rPr>
              <a:t>Verify the Reasoning</a:t>
            </a:r>
            <a:endParaRPr b="1" sz="1300">
              <a:solidFill>
                <a:srgbClr val="F2F6F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150"/>
              </a:spcBef>
              <a:spcAft>
                <a:spcPts val="0"/>
              </a:spcAft>
              <a:buNone/>
            </a:pPr>
            <a:r>
              <a:rPr b="0" lang="en-US" sz="1150">
                <a:solidFill>
                  <a:srgbClr val="8CA0B3"/>
                </a:solidFill>
                <a:latin typeface="Calibri"/>
                <a:ea typeface="Calibri"/>
                <a:cs typeface="Calibri"/>
                <a:sym typeface="Calibri"/>
              </a:rPr>
              <a:t>The mapping logic explains why the match was made </a:t>
            </a:r>
            <a:r>
              <a:rPr lang="en-US" sz="1150">
                <a:solidFill>
                  <a:srgbClr val="8CA0B3"/>
                </a:solidFill>
                <a:latin typeface="Calibri"/>
                <a:ea typeface="Calibri"/>
                <a:cs typeface="Calibri"/>
                <a:sym typeface="Calibri"/>
              </a:rPr>
              <a:t>-</a:t>
            </a:r>
            <a:r>
              <a:rPr b="0" lang="en-US" sz="1150">
                <a:solidFill>
                  <a:srgbClr val="8CA0B3"/>
                </a:solidFill>
                <a:latin typeface="Calibri"/>
                <a:ea typeface="Calibri"/>
                <a:cs typeface="Calibri"/>
                <a:sym typeface="Calibri"/>
              </a:rPr>
              <a:t> read it carefully, don't just trust the output question at a glance.</a:t>
            </a:r>
            <a:endParaRPr b="0" sz="1150">
              <a:solidFill>
                <a:srgbClr val="8CA0B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rgbClr val="3B93E0"/>
                </a:solidFill>
                <a:latin typeface="Calibri"/>
                <a:ea typeface="Calibri"/>
                <a:cs typeface="Calibri"/>
                <a:sym typeface="Calibri"/>
              </a:rPr>
              <a:t>04 Quick Reference</a:t>
            </a:r>
            <a:endParaRPr b="1" sz="1000">
              <a:solidFill>
                <a:srgbClr val="3B93E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15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F2F6F9"/>
                </a:solidFill>
                <a:latin typeface="Calibri"/>
                <a:ea typeface="Calibri"/>
                <a:cs typeface="Calibri"/>
                <a:sym typeface="Calibri"/>
              </a:rPr>
              <a:t>Persistent Sidebar</a:t>
            </a:r>
            <a:endParaRPr b="1" sz="1300">
              <a:solidFill>
                <a:srgbClr val="F2F6F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150"/>
              </a:spcBef>
              <a:spcAft>
                <a:spcPts val="0"/>
              </a:spcAft>
              <a:buNone/>
            </a:pPr>
            <a:r>
              <a:rPr b="0" lang="en-US" sz="1150">
                <a:solidFill>
                  <a:srgbClr val="8CA0B3"/>
                </a:solidFill>
                <a:latin typeface="Calibri"/>
                <a:ea typeface="Calibri"/>
                <a:cs typeface="Calibri"/>
                <a:sym typeface="Calibri"/>
              </a:rPr>
              <a:t>A Quick Reference panel stays open on the right side for the duration of the whole session.</a:t>
            </a:r>
            <a:endParaRPr b="0" sz="1150">
              <a:solidFill>
                <a:srgbClr val="8CA0B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8"/>
          <p:cNvSpPr/>
          <p:nvPr/>
        </p:nvSpPr>
        <p:spPr>
          <a:xfrm>
            <a:off x="4956048" y="2235139"/>
            <a:ext cx="6775800" cy="3622200"/>
          </a:xfrm>
          <a:prstGeom prst="roundRect">
            <a:avLst>
              <a:gd fmla="val 2020" name="adj"/>
            </a:avLst>
          </a:prstGeom>
          <a:solidFill>
            <a:srgbClr val="111C2B"/>
          </a:solidFill>
          <a:ln cap="flat" cmpd="sng" w="12700">
            <a:solidFill>
              <a:srgbClr val="1E2E42"/>
            </a:solidFill>
            <a:prstDash val="solid"/>
            <a:round/>
            <a:headEnd len="sm" w="sm" type="none"/>
            <a:tailEnd len="sm" w="sm" type="none"/>
          </a:ln>
          <a:effectLst>
            <a:outerShdw blurRad="228600" rotWithShape="0" algn="bl" dir="5400000" dist="76200">
              <a:srgbClr val="000000">
                <a:alpha val="4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sessions/optimistic-gifted-hawking/mnt/outputs/pptbuild/images/04_results_tags.png" id="137" name="Google Shape;137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074920" y="2354011"/>
            <a:ext cx="6537962" cy="3384416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8"/>
          <p:cNvSpPr/>
          <p:nvPr/>
        </p:nvSpPr>
        <p:spPr>
          <a:xfrm>
            <a:off x="502920" y="6519672"/>
            <a:ext cx="64008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850">
                <a:solidFill>
                  <a:srgbClr val="5C7086"/>
                </a:solidFill>
                <a:latin typeface="Calibri"/>
                <a:ea typeface="Calibri"/>
                <a:cs typeface="Calibri"/>
                <a:sym typeface="Calibri"/>
              </a:rPr>
              <a:t>DECLARATION ASSISTANT — YOUR PAYMENT ASSISTANT</a:t>
            </a:r>
            <a:endParaRPr sz="850">
              <a:solidFill>
                <a:srgbClr val="5C708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8"/>
          <p:cNvSpPr/>
          <p:nvPr/>
        </p:nvSpPr>
        <p:spPr>
          <a:xfrm>
            <a:off x="11521440" y="6519672"/>
            <a:ext cx="457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C7086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5C7086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1420"/>
        </a:solidFill>
      </p:bgPr>
    </p:bg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9"/>
          <p:cNvSpPr/>
          <p:nvPr/>
        </p:nvSpPr>
        <p:spPr>
          <a:xfrm>
            <a:off x="502920" y="475488"/>
            <a:ext cx="128100" cy="128100"/>
          </a:xfrm>
          <a:prstGeom prst="ellipse">
            <a:avLst/>
          </a:prstGeom>
          <a:solidFill>
            <a:srgbClr val="3B93E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9"/>
          <p:cNvSpPr/>
          <p:nvPr/>
        </p:nvSpPr>
        <p:spPr>
          <a:xfrm>
            <a:off x="731520" y="365760"/>
            <a:ext cx="73152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B93E0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3B93E0"/>
                </a:solidFill>
                <a:latin typeface="Calibri"/>
                <a:ea typeface="Calibri"/>
                <a:cs typeface="Calibri"/>
                <a:sym typeface="Calibri"/>
              </a:rPr>
              <a:t>PART 2 · INTERPRETING RESULTS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9"/>
          <p:cNvSpPr/>
          <p:nvPr/>
        </p:nvSpPr>
        <p:spPr>
          <a:xfrm>
            <a:off x="502920" y="685800"/>
            <a:ext cx="91440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Clr>
                <a:srgbClr val="F2F6F9"/>
              </a:buClr>
              <a:buSzPts val="3200"/>
              <a:buFont typeface="Cambria"/>
              <a:buNone/>
            </a:pPr>
            <a:r>
              <a:rPr b="1" i="0" lang="en-US" sz="3200" u="none" cap="none" strike="noStrike">
                <a:solidFill>
                  <a:srgbClr val="F2F6F9"/>
                </a:solidFill>
                <a:latin typeface="Cambria"/>
                <a:ea typeface="Cambria"/>
                <a:cs typeface="Cambria"/>
                <a:sym typeface="Cambria"/>
              </a:rPr>
              <a:t>Know Your Tags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9"/>
          <p:cNvSpPr/>
          <p:nvPr/>
        </p:nvSpPr>
        <p:spPr>
          <a:xfrm>
            <a:off x="502920" y="6519672"/>
            <a:ext cx="64008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850">
                <a:solidFill>
                  <a:srgbClr val="5C7086"/>
                </a:solidFill>
                <a:latin typeface="Calibri"/>
                <a:ea typeface="Calibri"/>
                <a:cs typeface="Calibri"/>
                <a:sym typeface="Calibri"/>
              </a:rPr>
              <a:t>DECLARATION ASSISTANT — YOUR PAYMENT ASSISTANT</a:t>
            </a:r>
            <a:endParaRPr sz="850">
              <a:solidFill>
                <a:srgbClr val="5C708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9"/>
          <p:cNvSpPr/>
          <p:nvPr/>
        </p:nvSpPr>
        <p:spPr>
          <a:xfrm>
            <a:off x="11521440" y="6519672"/>
            <a:ext cx="457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C7086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5C7086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50" name="Google Shape;150;p9"/>
          <p:cNvGrpSpPr/>
          <p:nvPr/>
        </p:nvGrpSpPr>
        <p:grpSpPr>
          <a:xfrm>
            <a:off x="502920" y="1714500"/>
            <a:ext cx="5334000" cy="1238400"/>
            <a:chOff x="0" y="0"/>
            <a:chExt cx="5334000" cy="1238400"/>
          </a:xfrm>
        </p:grpSpPr>
        <p:sp>
          <p:nvSpPr>
            <p:cNvPr id="151" name="Google Shape;151;p9"/>
            <p:cNvSpPr/>
            <p:nvPr/>
          </p:nvSpPr>
          <p:spPr>
            <a:xfrm>
              <a:off x="0" y="0"/>
              <a:ext cx="5334000" cy="1238400"/>
            </a:xfrm>
            <a:prstGeom prst="roundRect">
              <a:avLst>
                <a:gd fmla="val 6153" name="adj"/>
              </a:avLst>
            </a:prstGeom>
            <a:solidFill>
              <a:srgbClr val="111C2B"/>
            </a:solidFill>
            <a:ln cap="flat" cmpd="sng" w="9525">
              <a:solidFill>
                <a:srgbClr val="1E2E4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" name="Google Shape;152;p9"/>
            <p:cNvSpPr/>
            <p:nvPr/>
          </p:nvSpPr>
          <p:spPr>
            <a:xfrm>
              <a:off x="0" y="0"/>
              <a:ext cx="57300" cy="1238400"/>
            </a:xfrm>
            <a:prstGeom prst="roundRect">
              <a:avLst>
                <a:gd fmla="val 50000" name="adj"/>
              </a:avLst>
            </a:prstGeom>
            <a:solidFill>
              <a:srgbClr val="3DD68C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" name="Google Shape;153;p9"/>
            <p:cNvSpPr txBox="1"/>
            <p:nvPr/>
          </p:nvSpPr>
          <p:spPr>
            <a:xfrm>
              <a:off x="228600" y="133350"/>
              <a:ext cx="4876800" cy="97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400">
                  <a:solidFill>
                    <a:srgbClr val="3DD68C"/>
                  </a:solidFill>
                  <a:latin typeface="Cambria"/>
                  <a:ea typeface="Cambria"/>
                  <a:cs typeface="Cambria"/>
                  <a:sym typeface="Cambria"/>
                </a:rPr>
                <a:t>Direct Match</a:t>
              </a:r>
              <a:endParaRPr b="1" sz="1400">
                <a:solidFill>
                  <a:srgbClr val="3DD68C"/>
                </a:solidFill>
                <a:latin typeface="Cambria"/>
                <a:ea typeface="Cambria"/>
                <a:cs typeface="Cambria"/>
                <a:sym typeface="Cambria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-US" sz="1100">
                  <a:solidFill>
                    <a:srgbClr val="8CA0B3"/>
                  </a:solidFill>
                  <a:latin typeface="Calibri"/>
                  <a:ea typeface="Calibri"/>
                  <a:cs typeface="Calibri"/>
                  <a:sym typeface="Calibri"/>
                </a:rPr>
                <a:t>Exact wording match to the plan's declaration question.</a:t>
              </a:r>
              <a:endParaRPr b="0" sz="1100">
                <a:solidFill>
                  <a:srgbClr val="8CA0B3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1" lang="en-US" sz="950">
                  <a:solidFill>
                    <a:srgbClr val="3DD68C"/>
                  </a:solidFill>
                  <a:latin typeface="Calibri"/>
                  <a:ea typeface="Calibri"/>
                  <a:cs typeface="Calibri"/>
                  <a:sym typeface="Calibri"/>
                </a:rPr>
                <a:t>Action:</a:t>
              </a:r>
              <a:r>
                <a:rPr b="1" lang="en-US" sz="1100">
                  <a:solidFill>
                    <a:srgbClr val="F2F6F9"/>
                  </a:solidFill>
                  <a:latin typeface="Calibri"/>
                  <a:ea typeface="Calibri"/>
                  <a:cs typeface="Calibri"/>
                  <a:sym typeface="Calibri"/>
                </a:rPr>
                <a:t>Declare confidently under the matched question.</a:t>
              </a:r>
              <a:endParaRPr b="1" sz="1100">
                <a:solidFill>
                  <a:srgbClr val="F2F6F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54" name="Google Shape;154;p9"/>
          <p:cNvGrpSpPr/>
          <p:nvPr/>
        </p:nvGrpSpPr>
        <p:grpSpPr>
          <a:xfrm>
            <a:off x="6355080" y="1714500"/>
            <a:ext cx="5334000" cy="1238400"/>
            <a:chOff x="0" y="0"/>
            <a:chExt cx="5334000" cy="1238400"/>
          </a:xfrm>
        </p:grpSpPr>
        <p:sp>
          <p:nvSpPr>
            <p:cNvPr id="155" name="Google Shape;155;p9"/>
            <p:cNvSpPr/>
            <p:nvPr/>
          </p:nvSpPr>
          <p:spPr>
            <a:xfrm>
              <a:off x="0" y="0"/>
              <a:ext cx="5334000" cy="1238400"/>
            </a:xfrm>
            <a:prstGeom prst="roundRect">
              <a:avLst>
                <a:gd fmla="val 6153" name="adj"/>
              </a:avLst>
            </a:prstGeom>
            <a:solidFill>
              <a:srgbClr val="111C2B"/>
            </a:solidFill>
            <a:ln cap="flat" cmpd="sng" w="9525">
              <a:solidFill>
                <a:srgbClr val="1E2E4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" name="Google Shape;156;p9"/>
            <p:cNvSpPr/>
            <p:nvPr/>
          </p:nvSpPr>
          <p:spPr>
            <a:xfrm>
              <a:off x="0" y="0"/>
              <a:ext cx="57300" cy="1238400"/>
            </a:xfrm>
            <a:prstGeom prst="roundRect">
              <a:avLst>
                <a:gd fmla="val 50000" name="adj"/>
              </a:avLst>
            </a:prstGeom>
            <a:solidFill>
              <a:srgbClr val="3B93E0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" name="Google Shape;157;p9"/>
            <p:cNvSpPr txBox="1"/>
            <p:nvPr/>
          </p:nvSpPr>
          <p:spPr>
            <a:xfrm>
              <a:off x="228600" y="133350"/>
              <a:ext cx="4876800" cy="97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400">
                  <a:solidFill>
                    <a:srgbClr val="3B93E0"/>
                  </a:solidFill>
                  <a:latin typeface="Cambria"/>
                  <a:ea typeface="Cambria"/>
                  <a:cs typeface="Cambria"/>
                  <a:sym typeface="Cambria"/>
                </a:rPr>
                <a:t>Category Match</a:t>
              </a:r>
              <a:endParaRPr b="1" sz="1400">
                <a:solidFill>
                  <a:srgbClr val="3B93E0"/>
                </a:solidFill>
                <a:latin typeface="Cambria"/>
                <a:ea typeface="Cambria"/>
                <a:cs typeface="Cambria"/>
                <a:sym typeface="Cambria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-US" sz="1100">
                  <a:solidFill>
                    <a:srgbClr val="8CA0B3"/>
                  </a:solidFill>
                  <a:latin typeface="Calibri"/>
                  <a:ea typeface="Calibri"/>
                  <a:cs typeface="Calibri"/>
                  <a:sym typeface="Calibri"/>
                </a:rPr>
                <a:t>Falls under a broader declared category, not an exact wording hit.</a:t>
              </a:r>
              <a:endParaRPr b="0" sz="1100">
                <a:solidFill>
                  <a:srgbClr val="8CA0B3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1" lang="en-US" sz="950">
                  <a:solidFill>
                    <a:srgbClr val="3B93E0"/>
                  </a:solidFill>
                  <a:latin typeface="Calibri"/>
                  <a:ea typeface="Calibri"/>
                  <a:cs typeface="Calibri"/>
                  <a:sym typeface="Calibri"/>
                </a:rPr>
                <a:t>Action:</a:t>
              </a:r>
              <a:r>
                <a:rPr b="1" lang="en-US" sz="1100">
                  <a:solidFill>
                    <a:srgbClr val="F2F6F9"/>
                  </a:solidFill>
                  <a:latin typeface="Calibri"/>
                  <a:ea typeface="Calibri"/>
                  <a:cs typeface="Calibri"/>
                  <a:sym typeface="Calibri"/>
                </a:rPr>
                <a:t>Cross-check the Declaration Framework before finalizing.</a:t>
              </a:r>
              <a:endParaRPr b="1" sz="1100">
                <a:solidFill>
                  <a:srgbClr val="F2F6F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58" name="Google Shape;158;p9"/>
          <p:cNvGrpSpPr/>
          <p:nvPr/>
        </p:nvGrpSpPr>
        <p:grpSpPr>
          <a:xfrm>
            <a:off x="502920" y="3095625"/>
            <a:ext cx="5334000" cy="1238400"/>
            <a:chOff x="0" y="0"/>
            <a:chExt cx="5334000" cy="1238400"/>
          </a:xfrm>
        </p:grpSpPr>
        <p:sp>
          <p:nvSpPr>
            <p:cNvPr id="159" name="Google Shape;159;p9"/>
            <p:cNvSpPr/>
            <p:nvPr/>
          </p:nvSpPr>
          <p:spPr>
            <a:xfrm>
              <a:off x="0" y="0"/>
              <a:ext cx="5334000" cy="1238400"/>
            </a:xfrm>
            <a:prstGeom prst="roundRect">
              <a:avLst>
                <a:gd fmla="val 6153" name="adj"/>
              </a:avLst>
            </a:prstGeom>
            <a:solidFill>
              <a:srgbClr val="111C2B"/>
            </a:solidFill>
            <a:ln cap="flat" cmpd="sng" w="9525">
              <a:solidFill>
                <a:srgbClr val="1E2E4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" name="Google Shape;160;p9"/>
            <p:cNvSpPr/>
            <p:nvPr/>
          </p:nvSpPr>
          <p:spPr>
            <a:xfrm>
              <a:off x="0" y="0"/>
              <a:ext cx="57300" cy="1238400"/>
            </a:xfrm>
            <a:prstGeom prst="roundRect">
              <a:avLst>
                <a:gd fmla="val 50000" name="adj"/>
              </a:avLst>
            </a:prstGeom>
            <a:solidFill>
              <a:srgbClr val="8B7CF0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1" name="Google Shape;161;p9"/>
            <p:cNvSpPr txBox="1"/>
            <p:nvPr/>
          </p:nvSpPr>
          <p:spPr>
            <a:xfrm>
              <a:off x="228600" y="133350"/>
              <a:ext cx="4876800" cy="97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400">
                  <a:solidFill>
                    <a:srgbClr val="8B7CF0"/>
                  </a:solidFill>
                  <a:latin typeface="Cambria"/>
                  <a:ea typeface="Cambria"/>
                  <a:cs typeface="Cambria"/>
                  <a:sym typeface="Cambria"/>
                </a:rPr>
                <a:t>AI-Assisted Match</a:t>
              </a:r>
              <a:endParaRPr b="1" sz="1400">
                <a:solidFill>
                  <a:srgbClr val="8B7CF0"/>
                </a:solidFill>
                <a:latin typeface="Cambria"/>
                <a:ea typeface="Cambria"/>
                <a:cs typeface="Cambria"/>
                <a:sym typeface="Cambria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-US" sz="1100">
                  <a:solidFill>
                    <a:srgbClr val="8CA0B3"/>
                  </a:solidFill>
                  <a:latin typeface="Calibri"/>
                  <a:ea typeface="Calibri"/>
                  <a:cs typeface="Calibri"/>
                  <a:sym typeface="Calibri"/>
                </a:rPr>
                <a:t>AI inferred the mapping from clinical similarity.</a:t>
              </a:r>
              <a:endParaRPr b="0" sz="1100">
                <a:solidFill>
                  <a:srgbClr val="8CA0B3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1" lang="en-US" sz="950">
                  <a:solidFill>
                    <a:srgbClr val="8B7CF0"/>
                  </a:solidFill>
                  <a:latin typeface="Calibri"/>
                  <a:ea typeface="Calibri"/>
                  <a:cs typeface="Calibri"/>
                  <a:sym typeface="Calibri"/>
                </a:rPr>
                <a:t>Action:</a:t>
              </a:r>
              <a:r>
                <a:rPr b="1" lang="en-US" sz="1100">
                  <a:solidFill>
                    <a:srgbClr val="F2F6F9"/>
                  </a:solidFill>
                  <a:latin typeface="Calibri"/>
                  <a:ea typeface="Calibri"/>
                  <a:cs typeface="Calibri"/>
                  <a:sym typeface="Calibri"/>
                </a:rPr>
                <a:t>Review carefully — verify the reasoning before disclosing.</a:t>
              </a:r>
              <a:endParaRPr b="1" sz="1100">
                <a:solidFill>
                  <a:srgbClr val="F2F6F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62" name="Google Shape;162;p9"/>
          <p:cNvGrpSpPr/>
          <p:nvPr/>
        </p:nvGrpSpPr>
        <p:grpSpPr>
          <a:xfrm>
            <a:off x="502930" y="4476750"/>
            <a:ext cx="5334000" cy="1238400"/>
            <a:chOff x="0" y="0"/>
            <a:chExt cx="5334000" cy="1238400"/>
          </a:xfrm>
        </p:grpSpPr>
        <p:sp>
          <p:nvSpPr>
            <p:cNvPr id="163" name="Google Shape;163;p9"/>
            <p:cNvSpPr/>
            <p:nvPr/>
          </p:nvSpPr>
          <p:spPr>
            <a:xfrm>
              <a:off x="0" y="0"/>
              <a:ext cx="5334000" cy="1238400"/>
            </a:xfrm>
            <a:prstGeom prst="roundRect">
              <a:avLst>
                <a:gd fmla="val 6153" name="adj"/>
              </a:avLst>
            </a:prstGeom>
            <a:solidFill>
              <a:srgbClr val="111C2B"/>
            </a:solidFill>
            <a:ln cap="flat" cmpd="sng" w="9525">
              <a:solidFill>
                <a:srgbClr val="1E2E4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" name="Google Shape;164;p9"/>
            <p:cNvSpPr/>
            <p:nvPr/>
          </p:nvSpPr>
          <p:spPr>
            <a:xfrm>
              <a:off x="0" y="0"/>
              <a:ext cx="57300" cy="1238400"/>
            </a:xfrm>
            <a:prstGeom prst="roundRect">
              <a:avLst>
                <a:gd fmla="val 50000" name="adj"/>
              </a:avLst>
            </a:prstGeom>
            <a:solidFill>
              <a:srgbClr val="8CA0B3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" name="Google Shape;165;p9"/>
            <p:cNvSpPr txBox="1"/>
            <p:nvPr/>
          </p:nvSpPr>
          <p:spPr>
            <a:xfrm>
              <a:off x="228600" y="133350"/>
              <a:ext cx="4876800" cy="97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400">
                  <a:solidFill>
                    <a:srgbClr val="8CA0B3"/>
                  </a:solidFill>
                  <a:latin typeface="Cambria"/>
                  <a:ea typeface="Cambria"/>
                  <a:cs typeface="Cambria"/>
                  <a:sym typeface="Cambria"/>
                </a:rPr>
                <a:t>Not a Medical Ailment</a:t>
              </a:r>
              <a:endParaRPr b="1" sz="1400">
                <a:solidFill>
                  <a:srgbClr val="8CA0B3"/>
                </a:solidFill>
                <a:latin typeface="Cambria"/>
                <a:ea typeface="Cambria"/>
                <a:cs typeface="Cambria"/>
                <a:sym typeface="Cambria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-US" sz="1100">
                  <a:solidFill>
                    <a:srgbClr val="8CA0B3"/>
                  </a:solidFill>
                  <a:latin typeface="Calibri"/>
                  <a:ea typeface="Calibri"/>
                  <a:cs typeface="Calibri"/>
                  <a:sym typeface="Calibri"/>
                </a:rPr>
                <a:t>Entered term isn't a diagnosable medical condition.</a:t>
              </a:r>
              <a:endParaRPr b="0" sz="1100">
                <a:solidFill>
                  <a:srgbClr val="8CA0B3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1" lang="en-US" sz="950">
                  <a:solidFill>
                    <a:srgbClr val="8CA0B3"/>
                  </a:solidFill>
                  <a:latin typeface="Calibri"/>
                  <a:ea typeface="Calibri"/>
                  <a:cs typeface="Calibri"/>
                  <a:sym typeface="Calibri"/>
                </a:rPr>
                <a:t>Action:</a:t>
              </a:r>
              <a:r>
                <a:rPr b="1" lang="en-US" sz="1100">
                  <a:solidFill>
                    <a:srgbClr val="F2F6F9"/>
                  </a:solidFill>
                  <a:latin typeface="Calibri"/>
                  <a:ea typeface="Calibri"/>
                  <a:cs typeface="Calibri"/>
                  <a:sym typeface="Calibri"/>
                </a:rPr>
                <a:t>Re-enter a diagnosis, not a treatment or procedure.</a:t>
              </a:r>
              <a:endParaRPr b="1" sz="1100">
                <a:solidFill>
                  <a:srgbClr val="F2F6F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66" name="Google Shape;166;p9"/>
          <p:cNvGrpSpPr/>
          <p:nvPr/>
        </p:nvGrpSpPr>
        <p:grpSpPr>
          <a:xfrm>
            <a:off x="6355070" y="4476750"/>
            <a:ext cx="5334000" cy="1238400"/>
            <a:chOff x="0" y="0"/>
            <a:chExt cx="5334000" cy="1238400"/>
          </a:xfrm>
        </p:grpSpPr>
        <p:sp>
          <p:nvSpPr>
            <p:cNvPr id="167" name="Google Shape;167;p9"/>
            <p:cNvSpPr/>
            <p:nvPr/>
          </p:nvSpPr>
          <p:spPr>
            <a:xfrm>
              <a:off x="0" y="0"/>
              <a:ext cx="5334000" cy="1238400"/>
            </a:xfrm>
            <a:prstGeom prst="roundRect">
              <a:avLst>
                <a:gd fmla="val 6153" name="adj"/>
              </a:avLst>
            </a:prstGeom>
            <a:solidFill>
              <a:srgbClr val="111C2B"/>
            </a:solidFill>
            <a:ln cap="flat" cmpd="sng" w="9525">
              <a:solidFill>
                <a:srgbClr val="1E2E4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" name="Google Shape;168;p9"/>
            <p:cNvSpPr/>
            <p:nvPr/>
          </p:nvSpPr>
          <p:spPr>
            <a:xfrm>
              <a:off x="0" y="0"/>
              <a:ext cx="57300" cy="1238400"/>
            </a:xfrm>
            <a:prstGeom prst="roundRect">
              <a:avLst>
                <a:gd fmla="val 50000" name="adj"/>
              </a:avLst>
            </a:prstGeom>
            <a:solidFill>
              <a:srgbClr val="F5A429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" name="Google Shape;169;p9"/>
            <p:cNvSpPr txBox="1"/>
            <p:nvPr/>
          </p:nvSpPr>
          <p:spPr>
            <a:xfrm>
              <a:off x="228600" y="133350"/>
              <a:ext cx="4876800" cy="97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400">
                  <a:solidFill>
                    <a:srgbClr val="E2596B"/>
                  </a:solidFill>
                  <a:latin typeface="Cambria"/>
                  <a:ea typeface="Cambria"/>
                  <a:cs typeface="Cambria"/>
                  <a:sym typeface="Cambria"/>
                </a:rPr>
                <a:t>Needs Clarification</a:t>
              </a:r>
              <a:endParaRPr b="1" sz="1400">
                <a:solidFill>
                  <a:srgbClr val="E2596B"/>
                </a:solidFill>
                <a:latin typeface="Cambria"/>
                <a:ea typeface="Cambria"/>
                <a:cs typeface="Cambria"/>
                <a:sym typeface="Cambria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-US" sz="1100">
                  <a:solidFill>
                    <a:srgbClr val="8CA0B3"/>
                  </a:solidFill>
                  <a:latin typeface="Calibri"/>
                  <a:ea typeface="Calibri"/>
                  <a:cs typeface="Calibri"/>
                  <a:sym typeface="Calibri"/>
                </a:rPr>
                <a:t>Term is ambiguous, or unrecognized by the engine.</a:t>
              </a:r>
              <a:endParaRPr b="0" sz="1100">
                <a:solidFill>
                  <a:srgbClr val="8CA0B3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1" lang="en-US" sz="950">
                  <a:solidFill>
                    <a:srgbClr val="E2596B"/>
                  </a:solidFill>
                  <a:latin typeface="Calibri"/>
                  <a:ea typeface="Calibri"/>
                  <a:cs typeface="Calibri"/>
                  <a:sym typeface="Calibri"/>
                </a:rPr>
                <a:t>Action:</a:t>
              </a:r>
              <a:r>
                <a:rPr b="1" lang="en-US" sz="1100">
                  <a:solidFill>
                    <a:srgbClr val="F2F6F9"/>
                  </a:solidFill>
                  <a:latin typeface="Calibri"/>
                  <a:ea typeface="Calibri"/>
                  <a:cs typeface="Calibri"/>
                  <a:sym typeface="Calibri"/>
                </a:rPr>
                <a:t>Ask the customer for more detail, or flag it.</a:t>
              </a:r>
              <a:endParaRPr b="1" sz="1100">
                <a:solidFill>
                  <a:srgbClr val="F2F6F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70" name="Google Shape;170;p9"/>
          <p:cNvGrpSpPr/>
          <p:nvPr/>
        </p:nvGrpSpPr>
        <p:grpSpPr>
          <a:xfrm>
            <a:off x="6355080" y="3095625"/>
            <a:ext cx="5334000" cy="1238400"/>
            <a:chOff x="0" y="0"/>
            <a:chExt cx="5334000" cy="1238400"/>
          </a:xfrm>
        </p:grpSpPr>
        <p:sp>
          <p:nvSpPr>
            <p:cNvPr id="171" name="Google Shape;171;p9"/>
            <p:cNvSpPr/>
            <p:nvPr/>
          </p:nvSpPr>
          <p:spPr>
            <a:xfrm>
              <a:off x="0" y="0"/>
              <a:ext cx="5334000" cy="1238400"/>
            </a:xfrm>
            <a:prstGeom prst="roundRect">
              <a:avLst>
                <a:gd fmla="val 6153" name="adj"/>
              </a:avLst>
            </a:prstGeom>
            <a:solidFill>
              <a:srgbClr val="111C2B"/>
            </a:solidFill>
            <a:ln cap="flat" cmpd="sng" w="9525">
              <a:solidFill>
                <a:srgbClr val="1E2E4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" name="Google Shape;172;p9"/>
            <p:cNvSpPr/>
            <p:nvPr/>
          </p:nvSpPr>
          <p:spPr>
            <a:xfrm>
              <a:off x="0" y="0"/>
              <a:ext cx="57300" cy="1238400"/>
            </a:xfrm>
            <a:prstGeom prst="roundRect">
              <a:avLst>
                <a:gd fmla="val 50000" name="adj"/>
              </a:avLst>
            </a:prstGeom>
            <a:solidFill>
              <a:srgbClr val="E2596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" name="Google Shape;173;p9"/>
            <p:cNvSpPr txBox="1"/>
            <p:nvPr/>
          </p:nvSpPr>
          <p:spPr>
            <a:xfrm>
              <a:off x="228600" y="133350"/>
              <a:ext cx="4876800" cy="97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400">
                  <a:solidFill>
                    <a:srgbClr val="F5A429"/>
                  </a:solidFill>
                  <a:latin typeface="Cambria"/>
                  <a:ea typeface="Cambria"/>
                  <a:cs typeface="Cambria"/>
                  <a:sym typeface="Cambria"/>
                </a:rPr>
                <a:t>Fallback</a:t>
              </a:r>
              <a:r>
                <a:rPr b="1" lang="en-US">
                  <a:solidFill>
                    <a:srgbClr val="F5A429"/>
                  </a:solidFill>
                  <a:latin typeface="Cambria"/>
                  <a:ea typeface="Cambria"/>
                  <a:cs typeface="Cambria"/>
                  <a:sym typeface="Cambria"/>
                </a:rPr>
                <a:t> - </a:t>
              </a:r>
              <a:r>
                <a:rPr b="1" lang="en-US" sz="1400">
                  <a:solidFill>
                    <a:srgbClr val="F5A429"/>
                  </a:solidFill>
                  <a:latin typeface="Cambria"/>
                  <a:ea typeface="Cambria"/>
                  <a:cs typeface="Cambria"/>
                  <a:sym typeface="Cambria"/>
                </a:rPr>
                <a:t>Manual Review</a:t>
              </a:r>
              <a:endParaRPr b="1" sz="1400">
                <a:solidFill>
                  <a:srgbClr val="F5A429"/>
                </a:solidFill>
                <a:latin typeface="Cambria"/>
                <a:ea typeface="Cambria"/>
                <a:cs typeface="Cambria"/>
                <a:sym typeface="Cambria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-US" sz="1100">
                  <a:solidFill>
                    <a:srgbClr val="8CA0B3"/>
                  </a:solidFill>
                  <a:latin typeface="Calibri"/>
                  <a:ea typeface="Calibri"/>
                  <a:cs typeface="Calibri"/>
                  <a:sym typeface="Calibri"/>
                </a:rPr>
                <a:t>Engine couldn't confidently map the condition to a main Question.</a:t>
              </a:r>
              <a:endParaRPr b="0" sz="1100">
                <a:solidFill>
                  <a:srgbClr val="F5A429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1" lang="en-US" sz="950">
                  <a:solidFill>
                    <a:srgbClr val="F5A429"/>
                  </a:solidFill>
                  <a:latin typeface="Calibri"/>
                  <a:ea typeface="Calibri"/>
                  <a:cs typeface="Calibri"/>
                  <a:sym typeface="Calibri"/>
                </a:rPr>
                <a:t>Action:</a:t>
              </a:r>
              <a:r>
                <a:rPr b="1" lang="en-US" sz="1100">
                  <a:solidFill>
                    <a:srgbClr val="F2F6F9"/>
                  </a:solidFill>
                  <a:latin typeface="Calibri"/>
                  <a:ea typeface="Calibri"/>
                  <a:cs typeface="Calibri"/>
                  <a:sym typeface="Calibri"/>
                </a:rPr>
                <a:t>Personally verify no question applies and proceed</a:t>
              </a:r>
              <a:r>
                <a:rPr b="1" lang="en-US" sz="1100">
                  <a:solidFill>
                    <a:srgbClr val="F2F6F9"/>
                  </a:solidFill>
                  <a:latin typeface="Calibri"/>
                  <a:ea typeface="Calibri"/>
                  <a:cs typeface="Calibri"/>
                  <a:sym typeface="Calibri"/>
                </a:rPr>
                <a:t>.</a:t>
              </a:r>
              <a:endParaRPr b="1" sz="1100">
                <a:solidFill>
                  <a:srgbClr val="F2F6F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1420"/>
        </a:solidFill>
      </p:bgPr>
    </p:bg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10"/>
          <p:cNvSpPr/>
          <p:nvPr/>
        </p:nvSpPr>
        <p:spPr>
          <a:xfrm>
            <a:off x="502920" y="475488"/>
            <a:ext cx="128100" cy="128100"/>
          </a:xfrm>
          <a:prstGeom prst="ellipse">
            <a:avLst/>
          </a:prstGeom>
          <a:solidFill>
            <a:srgbClr val="E2596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10"/>
          <p:cNvSpPr/>
          <p:nvPr/>
        </p:nvSpPr>
        <p:spPr>
          <a:xfrm>
            <a:off x="731520" y="365760"/>
            <a:ext cx="73152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596B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E2596B"/>
                </a:solidFill>
                <a:latin typeface="Calibri"/>
                <a:ea typeface="Calibri"/>
                <a:cs typeface="Calibri"/>
                <a:sym typeface="Calibri"/>
              </a:rPr>
              <a:t>PART 3 · MANDATORY ADVISORIES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10"/>
          <p:cNvSpPr/>
          <p:nvPr/>
        </p:nvSpPr>
        <p:spPr>
          <a:xfrm>
            <a:off x="502920" y="685800"/>
            <a:ext cx="78639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Clr>
                <a:srgbClr val="F2F6F9"/>
              </a:buClr>
              <a:buSzPts val="3200"/>
              <a:buFont typeface="Cambria"/>
              <a:buNone/>
            </a:pPr>
            <a:r>
              <a:rPr b="1" i="0" lang="en-US" sz="3200" u="none" cap="none" strike="noStrike">
                <a:solidFill>
                  <a:srgbClr val="F2F6F9"/>
                </a:solidFill>
                <a:latin typeface="Cambria"/>
                <a:ea typeface="Cambria"/>
                <a:cs typeface="Cambria"/>
                <a:sym typeface="Cambria"/>
              </a:rPr>
              <a:t>Linked PED Narrative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10"/>
          <p:cNvSpPr/>
          <p:nvPr/>
        </p:nvSpPr>
        <p:spPr>
          <a:xfrm>
            <a:off x="502920" y="1714500"/>
            <a:ext cx="4191000" cy="4381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47625" lIns="47625" spcFirstLastPara="1" rIns="47625" wrap="square" tIns="476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50">
                <a:solidFill>
                  <a:srgbClr val="E2596B"/>
                </a:solidFill>
                <a:latin typeface="Calibri"/>
                <a:ea typeface="Calibri"/>
                <a:cs typeface="Calibri"/>
                <a:sym typeface="Calibri"/>
              </a:rPr>
              <a:t>01 · AUTOMATIC TRIGGER</a:t>
            </a:r>
            <a:endParaRPr b="1" sz="1050">
              <a:solidFill>
                <a:srgbClr val="E2596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F2F6F9"/>
                </a:solidFill>
                <a:latin typeface="Cambria"/>
                <a:ea typeface="Cambria"/>
                <a:cs typeface="Cambria"/>
                <a:sym typeface="Cambria"/>
              </a:rPr>
              <a:t>Chronic-Complication Risk</a:t>
            </a:r>
            <a:endParaRPr b="1" sz="1500">
              <a:solidFill>
                <a:srgbClr val="F2F6F9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l">
              <a:spcBef>
                <a:spcPts val="450"/>
              </a:spcBef>
              <a:spcAft>
                <a:spcPts val="0"/>
              </a:spcAft>
              <a:buNone/>
            </a:pPr>
            <a:r>
              <a:rPr lang="en-US" sz="1150">
                <a:solidFill>
                  <a:srgbClr val="8CA0B3"/>
                </a:solidFill>
                <a:latin typeface="Calibri"/>
                <a:ea typeface="Calibri"/>
                <a:cs typeface="Calibri"/>
                <a:sym typeface="Calibri"/>
              </a:rPr>
              <a:t>Triggers automatically for conditions linked to chronic-complication risk — Diabetes, Hypertension, high cholesterol, and similar.</a:t>
            </a:r>
            <a:endParaRPr sz="1150">
              <a:solidFill>
                <a:srgbClr val="8CA0B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2100"/>
              </a:spcBef>
              <a:spcAft>
                <a:spcPts val="0"/>
              </a:spcAft>
              <a:buNone/>
            </a:pPr>
            <a:r>
              <a:rPr b="1" lang="en-US" sz="1050">
                <a:solidFill>
                  <a:srgbClr val="E2596B"/>
                </a:solidFill>
                <a:latin typeface="Calibri"/>
                <a:ea typeface="Calibri"/>
                <a:cs typeface="Calibri"/>
                <a:sym typeface="Calibri"/>
              </a:rPr>
              <a:t>02 · TARGETS CHIPS</a:t>
            </a:r>
            <a:endParaRPr b="1" sz="1050">
              <a:solidFill>
                <a:srgbClr val="E2596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F2F6F9"/>
                </a:solidFill>
                <a:latin typeface="Cambria"/>
                <a:ea typeface="Cambria"/>
                <a:cs typeface="Cambria"/>
                <a:sym typeface="Cambria"/>
              </a:rPr>
              <a:t>Covered Conditions</a:t>
            </a:r>
            <a:endParaRPr b="1" sz="1500">
              <a:solidFill>
                <a:srgbClr val="F2F6F9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l">
              <a:spcBef>
                <a:spcPts val="450"/>
              </a:spcBef>
              <a:spcAft>
                <a:spcPts val="0"/>
              </a:spcAft>
              <a:buNone/>
            </a:pPr>
            <a:r>
              <a:rPr lang="en-US" sz="1150">
                <a:solidFill>
                  <a:srgbClr val="8CA0B3"/>
                </a:solidFill>
                <a:latin typeface="Calibri"/>
                <a:ea typeface="Calibri"/>
                <a:cs typeface="Calibri"/>
                <a:sym typeface="Calibri"/>
              </a:rPr>
              <a:t>TARGETS chips show every linked condition the narrative covers — e.g. Diabetes/Pre-Diabetes, Hypertension, Hypercholesterolaemia.</a:t>
            </a:r>
            <a:endParaRPr sz="1150">
              <a:solidFill>
                <a:srgbClr val="8CA0B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2100"/>
              </a:spcBef>
              <a:spcAft>
                <a:spcPts val="0"/>
              </a:spcAft>
              <a:buNone/>
            </a:pPr>
            <a:r>
              <a:rPr b="1" lang="en-US" sz="1050">
                <a:solidFill>
                  <a:srgbClr val="E2596B"/>
                </a:solidFill>
                <a:latin typeface="Calibri"/>
                <a:ea typeface="Calibri"/>
                <a:cs typeface="Calibri"/>
                <a:sym typeface="Calibri"/>
              </a:rPr>
              <a:t>03 · ADVISOR NARRATIVE</a:t>
            </a:r>
            <a:endParaRPr b="1" sz="1050">
              <a:solidFill>
                <a:srgbClr val="E2596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F2F6F9"/>
                </a:solidFill>
                <a:latin typeface="Cambria"/>
                <a:ea typeface="Cambria"/>
                <a:cs typeface="Cambria"/>
                <a:sym typeface="Cambria"/>
              </a:rPr>
              <a:t>Enhance With Example</a:t>
            </a:r>
            <a:endParaRPr b="1" sz="1500">
              <a:solidFill>
                <a:srgbClr val="F2F6F9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l">
              <a:spcBef>
                <a:spcPts val="450"/>
              </a:spcBef>
              <a:spcAft>
                <a:spcPts val="0"/>
              </a:spcAft>
              <a:buNone/>
            </a:pPr>
            <a:r>
              <a:rPr lang="en-US" sz="1150">
                <a:solidFill>
                  <a:srgbClr val="8CA0B3"/>
                </a:solidFill>
                <a:latin typeface="Calibri"/>
                <a:ea typeface="Calibri"/>
                <a:cs typeface="Calibri"/>
                <a:sym typeface="Calibri"/>
              </a:rPr>
              <a:t>The Advisor Narrative explains the real risk in plain language: e.g. claims for heart attacks or strokes can be rejected if they stem from an undeclared linked condition.</a:t>
            </a:r>
            <a:endParaRPr sz="1150">
              <a:solidFill>
                <a:srgbClr val="8CA0B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10"/>
          <p:cNvSpPr/>
          <p:nvPr/>
        </p:nvSpPr>
        <p:spPr>
          <a:xfrm>
            <a:off x="4956048" y="2235139"/>
            <a:ext cx="6775800" cy="3622200"/>
          </a:xfrm>
          <a:prstGeom prst="roundRect">
            <a:avLst>
              <a:gd fmla="val 2020" name="adj"/>
            </a:avLst>
          </a:prstGeom>
          <a:solidFill>
            <a:srgbClr val="111C2B"/>
          </a:solidFill>
          <a:ln cap="flat" cmpd="sng" w="12700">
            <a:solidFill>
              <a:srgbClr val="1E2E42"/>
            </a:solidFill>
            <a:prstDash val="solid"/>
            <a:round/>
            <a:headEnd len="sm" w="sm" type="none"/>
            <a:tailEnd len="sm" w="sm" type="none"/>
          </a:ln>
          <a:effectLst>
            <a:outerShdw blurRad="228600" rotWithShape="0" algn="bl" dir="5400000" dist="76200">
              <a:srgbClr val="000000">
                <a:alpha val="4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sessions/optimistic-gifted-hawking/mnt/outputs/pptbuild/images/05_linked_narrative.png" id="184" name="Google Shape;184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074920" y="2354011"/>
            <a:ext cx="6537962" cy="3384416"/>
          </a:xfrm>
          <a:prstGeom prst="rect">
            <a:avLst/>
          </a:prstGeom>
          <a:noFill/>
          <a:ln>
            <a:noFill/>
          </a:ln>
        </p:spPr>
      </p:pic>
      <p:sp>
        <p:nvSpPr>
          <p:cNvPr id="185" name="Google Shape;185;p10"/>
          <p:cNvSpPr/>
          <p:nvPr/>
        </p:nvSpPr>
        <p:spPr>
          <a:xfrm>
            <a:off x="502920" y="6519672"/>
            <a:ext cx="64008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850">
                <a:solidFill>
                  <a:srgbClr val="5C7086"/>
                </a:solidFill>
                <a:latin typeface="Calibri"/>
                <a:ea typeface="Calibri"/>
                <a:cs typeface="Calibri"/>
                <a:sym typeface="Calibri"/>
              </a:rPr>
              <a:t>DECLARATION ASSISTANT — YOUR PAYMENT ASSISTANT</a:t>
            </a:r>
            <a:endParaRPr sz="850">
              <a:solidFill>
                <a:srgbClr val="5C708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10"/>
          <p:cNvSpPr/>
          <p:nvPr/>
        </p:nvSpPr>
        <p:spPr>
          <a:xfrm>
            <a:off x="11521440" y="6519672"/>
            <a:ext cx="457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C7086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5C7086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1420"/>
        </a:solidFill>
      </p:bgPr>
    </p:bg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11"/>
          <p:cNvSpPr/>
          <p:nvPr/>
        </p:nvSpPr>
        <p:spPr>
          <a:xfrm>
            <a:off x="502920" y="475488"/>
            <a:ext cx="128100" cy="128100"/>
          </a:xfrm>
          <a:prstGeom prst="ellipse">
            <a:avLst/>
          </a:prstGeom>
          <a:solidFill>
            <a:srgbClr val="F5A42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11"/>
          <p:cNvSpPr/>
          <p:nvPr/>
        </p:nvSpPr>
        <p:spPr>
          <a:xfrm>
            <a:off x="731520" y="365760"/>
            <a:ext cx="73152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A429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5A429"/>
                </a:solidFill>
                <a:latin typeface="Calibri"/>
                <a:ea typeface="Calibri"/>
                <a:cs typeface="Calibri"/>
                <a:sym typeface="Calibri"/>
              </a:rPr>
              <a:t>PART </a:t>
            </a:r>
            <a:r>
              <a:rPr b="1" lang="en-US" sz="1200">
                <a:solidFill>
                  <a:srgbClr val="F5A429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r>
              <a:rPr b="1" i="0" lang="en-US" sz="1200" u="none" cap="none" strike="noStrike">
                <a:solidFill>
                  <a:srgbClr val="F5A429"/>
                </a:solidFill>
                <a:latin typeface="Calibri"/>
                <a:ea typeface="Calibri"/>
                <a:cs typeface="Calibri"/>
                <a:sym typeface="Calibri"/>
              </a:rPr>
              <a:t> · MANDATORY ADVISORIES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11"/>
          <p:cNvSpPr/>
          <p:nvPr/>
        </p:nvSpPr>
        <p:spPr>
          <a:xfrm>
            <a:off x="502920" y="1666875"/>
            <a:ext cx="4191000" cy="46674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50">
                <a:solidFill>
                  <a:srgbClr val="F5A429"/>
                </a:solidFill>
                <a:latin typeface="Calibri"/>
                <a:ea typeface="Calibri"/>
                <a:cs typeface="Calibri"/>
                <a:sym typeface="Calibri"/>
              </a:rPr>
              <a:t>01 · CURATED LIST</a:t>
            </a:r>
            <a:endParaRPr b="1" sz="950">
              <a:solidFill>
                <a:srgbClr val="F5A42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225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F2F6F9"/>
                </a:solidFill>
                <a:latin typeface="Cambria"/>
                <a:ea typeface="Cambria"/>
                <a:cs typeface="Cambria"/>
                <a:sym typeface="Cambria"/>
              </a:rPr>
              <a:t>Specific Illness List</a:t>
            </a:r>
            <a:endParaRPr b="1" sz="1400">
              <a:solidFill>
                <a:srgbClr val="F2F6F9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lang="en-US" sz="1100">
                <a:solidFill>
                  <a:srgbClr val="8CA0B3"/>
                </a:solidFill>
                <a:latin typeface="Calibri"/>
                <a:ea typeface="Calibri"/>
                <a:cs typeface="Calibri"/>
                <a:sym typeface="Calibri"/>
              </a:rPr>
              <a:t>Plans maintain a curated Specific Illness List to help identify whether a PED falls under specific illness rules.</a:t>
            </a:r>
            <a:endParaRPr b="0" sz="1100">
              <a:solidFill>
                <a:srgbClr val="8CA0B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b="1" lang="en-US" sz="950">
                <a:solidFill>
                  <a:srgbClr val="F5A429"/>
                </a:solidFill>
                <a:latin typeface="Calibri"/>
                <a:ea typeface="Calibri"/>
                <a:cs typeface="Calibri"/>
                <a:sym typeface="Calibri"/>
              </a:rPr>
              <a:t>02 · AUTO TAGGING</a:t>
            </a:r>
            <a:endParaRPr b="1" sz="950">
              <a:solidFill>
                <a:srgbClr val="F5A42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225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F2F6F9"/>
                </a:solidFill>
                <a:latin typeface="Cambria"/>
                <a:ea typeface="Cambria"/>
                <a:cs typeface="Cambria"/>
                <a:sym typeface="Cambria"/>
              </a:rPr>
              <a:t>Specific Illness Tag</a:t>
            </a:r>
            <a:endParaRPr b="1" sz="1400">
              <a:solidFill>
                <a:srgbClr val="F2F6F9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lang="en-US" sz="1100">
                <a:solidFill>
                  <a:srgbClr val="8CA0B3"/>
                </a:solidFill>
                <a:latin typeface="Calibri"/>
                <a:ea typeface="Calibri"/>
                <a:cs typeface="Calibri"/>
                <a:sym typeface="Calibri"/>
              </a:rPr>
              <a:t>When a queued PED appears on that list, a SPECIFIC ILLNESS tag appears inside the PED specific result tab.</a:t>
            </a:r>
            <a:endParaRPr b="0" sz="1100">
              <a:solidFill>
                <a:srgbClr val="8CA0B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b="1" lang="en-US" sz="950">
                <a:solidFill>
                  <a:srgbClr val="F5A429"/>
                </a:solidFill>
                <a:latin typeface="Calibri"/>
                <a:ea typeface="Calibri"/>
                <a:cs typeface="Calibri"/>
                <a:sym typeface="Calibri"/>
              </a:rPr>
              <a:t>03 · DETAILED MAPPING</a:t>
            </a:r>
            <a:endParaRPr b="1" sz="950">
              <a:solidFill>
                <a:srgbClr val="F5A42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225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F2F6F9"/>
                </a:solidFill>
                <a:latin typeface="Cambria"/>
                <a:ea typeface="Cambria"/>
                <a:cs typeface="Cambria"/>
                <a:sym typeface="Cambria"/>
              </a:rPr>
              <a:t>Expanded Panel</a:t>
            </a:r>
            <a:endParaRPr b="1" sz="1400">
              <a:solidFill>
                <a:srgbClr val="F2F6F9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lang="en-US" sz="1100">
                <a:solidFill>
                  <a:srgbClr val="8CA0B3"/>
                </a:solidFill>
                <a:latin typeface="Calibri"/>
                <a:ea typeface="Calibri"/>
                <a:cs typeface="Calibri"/>
                <a:sym typeface="Calibri"/>
              </a:rPr>
              <a:t>Shows exactly how the raw term was interpreted — e.g. "pancreatitis" maps to "Pancreatitis" under Gastroenterology.</a:t>
            </a:r>
            <a:endParaRPr b="0" sz="1100">
              <a:solidFill>
                <a:srgbClr val="8CA0B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b="1" lang="en-US" sz="950">
                <a:solidFill>
                  <a:srgbClr val="F5A429"/>
                </a:solidFill>
                <a:latin typeface="Calibri"/>
                <a:ea typeface="Calibri"/>
                <a:cs typeface="Calibri"/>
                <a:sym typeface="Calibri"/>
              </a:rPr>
              <a:t>04 · ADVISOR ACTION</a:t>
            </a:r>
            <a:endParaRPr b="1" sz="950">
              <a:solidFill>
                <a:srgbClr val="F5A42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225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F2F6F9"/>
                </a:solidFill>
                <a:latin typeface="Cambria"/>
                <a:ea typeface="Cambria"/>
                <a:cs typeface="Cambria"/>
                <a:sym typeface="Cambria"/>
              </a:rPr>
              <a:t>Verify Applicability</a:t>
            </a:r>
            <a:endParaRPr b="1" sz="1400">
              <a:solidFill>
                <a:srgbClr val="F2F6F9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lang="en-US" sz="1100">
                <a:solidFill>
                  <a:srgbClr val="8CA0B3"/>
                </a:solidFill>
                <a:latin typeface="Calibri"/>
                <a:ea typeface="Calibri"/>
                <a:cs typeface="Calibri"/>
                <a:sym typeface="Calibri"/>
              </a:rPr>
              <a:t>Check and verify the applicability inside the list for the plan before pitching the rider to reduce waiting period.</a:t>
            </a:r>
            <a:endParaRPr b="0" sz="1100">
              <a:solidFill>
                <a:srgbClr val="8CA0B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11"/>
          <p:cNvSpPr/>
          <p:nvPr/>
        </p:nvSpPr>
        <p:spPr>
          <a:xfrm>
            <a:off x="502920" y="685800"/>
            <a:ext cx="78639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Clr>
                <a:srgbClr val="F2F6F9"/>
              </a:buClr>
              <a:buSzPts val="3200"/>
              <a:buFont typeface="Cambria"/>
              <a:buNone/>
            </a:pPr>
            <a:r>
              <a:rPr b="1" i="0" lang="en-US" sz="3200" u="none" cap="none" strike="noStrike">
                <a:solidFill>
                  <a:srgbClr val="F2F6F9"/>
                </a:solidFill>
                <a:latin typeface="Cambria"/>
                <a:ea typeface="Cambria"/>
                <a:cs typeface="Cambria"/>
                <a:sym typeface="Cambria"/>
              </a:rPr>
              <a:t>Specific Illness Tag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11"/>
          <p:cNvSpPr/>
          <p:nvPr/>
        </p:nvSpPr>
        <p:spPr>
          <a:xfrm>
            <a:off x="4956048" y="2235139"/>
            <a:ext cx="6775800" cy="3622200"/>
          </a:xfrm>
          <a:prstGeom prst="roundRect">
            <a:avLst>
              <a:gd fmla="val 2020" name="adj"/>
            </a:avLst>
          </a:prstGeom>
          <a:solidFill>
            <a:srgbClr val="111C2B"/>
          </a:solidFill>
          <a:ln cap="flat" cmpd="sng" w="12700">
            <a:solidFill>
              <a:srgbClr val="1E2E42"/>
            </a:solidFill>
            <a:prstDash val="solid"/>
            <a:round/>
            <a:headEnd len="sm" w="sm" type="none"/>
            <a:tailEnd len="sm" w="sm" type="none"/>
          </a:ln>
          <a:effectLst>
            <a:outerShdw blurRad="228600" rotWithShape="0" algn="bl" dir="5400000" dist="76200">
              <a:srgbClr val="000000">
                <a:alpha val="4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sessions/optimistic-gifted-hawking/mnt/outputs/pptbuild/images/06_specific_illness.png" id="197" name="Google Shape;197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074920" y="2354011"/>
            <a:ext cx="6537962" cy="3384416"/>
          </a:xfrm>
          <a:prstGeom prst="rect">
            <a:avLst/>
          </a:prstGeom>
          <a:noFill/>
          <a:ln>
            <a:noFill/>
          </a:ln>
        </p:spPr>
      </p:pic>
      <p:sp>
        <p:nvSpPr>
          <p:cNvPr id="198" name="Google Shape;198;p11"/>
          <p:cNvSpPr/>
          <p:nvPr/>
        </p:nvSpPr>
        <p:spPr>
          <a:xfrm>
            <a:off x="502920" y="6519672"/>
            <a:ext cx="64008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850">
                <a:solidFill>
                  <a:srgbClr val="5C7086"/>
                </a:solidFill>
                <a:latin typeface="Calibri"/>
                <a:ea typeface="Calibri"/>
                <a:cs typeface="Calibri"/>
                <a:sym typeface="Calibri"/>
              </a:rPr>
              <a:t>DECLARATION ASSISTANT — YOUR PAYMENT ASSISTANT</a:t>
            </a:r>
            <a:endParaRPr sz="850">
              <a:solidFill>
                <a:srgbClr val="5C708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11"/>
          <p:cNvSpPr/>
          <p:nvPr/>
        </p:nvSpPr>
        <p:spPr>
          <a:xfrm>
            <a:off x="11521440" y="6519672"/>
            <a:ext cx="457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C7086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5C7086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1420"/>
        </a:solidFill>
      </p:bgPr>
    </p:bg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12"/>
          <p:cNvSpPr/>
          <p:nvPr/>
        </p:nvSpPr>
        <p:spPr>
          <a:xfrm>
            <a:off x="502920" y="475488"/>
            <a:ext cx="128100" cy="128100"/>
          </a:xfrm>
          <a:prstGeom prst="ellipse">
            <a:avLst/>
          </a:prstGeom>
          <a:solidFill>
            <a:srgbClr val="F5A42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p12"/>
          <p:cNvSpPr/>
          <p:nvPr/>
        </p:nvSpPr>
        <p:spPr>
          <a:xfrm>
            <a:off x="731520" y="365760"/>
            <a:ext cx="73152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A429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5A429"/>
                </a:solidFill>
                <a:latin typeface="Calibri"/>
                <a:ea typeface="Calibri"/>
                <a:cs typeface="Calibri"/>
                <a:sym typeface="Calibri"/>
              </a:rPr>
              <a:t>PART </a:t>
            </a:r>
            <a:r>
              <a:rPr b="1" lang="en-US" sz="1200">
                <a:solidFill>
                  <a:srgbClr val="F5A429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r>
              <a:rPr b="1" i="0" lang="en-US" sz="1200" u="none" cap="none" strike="noStrike">
                <a:solidFill>
                  <a:srgbClr val="F5A429"/>
                </a:solidFill>
                <a:latin typeface="Calibri"/>
                <a:ea typeface="Calibri"/>
                <a:cs typeface="Calibri"/>
                <a:sym typeface="Calibri"/>
              </a:rPr>
              <a:t> · QUICK REFERENCE SIDEBAR</a:t>
            </a:r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12"/>
          <p:cNvSpPr/>
          <p:nvPr/>
        </p:nvSpPr>
        <p:spPr>
          <a:xfrm>
            <a:off x="502920" y="685800"/>
            <a:ext cx="78639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Clr>
                <a:srgbClr val="F2F6F9"/>
              </a:buClr>
              <a:buSzPts val="3200"/>
              <a:buFont typeface="Cambria"/>
              <a:buNone/>
            </a:pPr>
            <a:r>
              <a:rPr b="1" i="0" lang="en-US" sz="3200" u="none" cap="none" strike="noStrike">
                <a:solidFill>
                  <a:srgbClr val="F2F6F9"/>
                </a:solidFill>
                <a:latin typeface="Cambria"/>
                <a:ea typeface="Cambria"/>
                <a:cs typeface="Cambria"/>
                <a:sym typeface="Cambria"/>
              </a:rPr>
              <a:t>Specific Illness List</a:t>
            </a:r>
            <a:endParaRPr b="0" i="0" sz="3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12"/>
          <p:cNvSpPr/>
          <p:nvPr/>
        </p:nvSpPr>
        <p:spPr>
          <a:xfrm>
            <a:off x="4956048" y="2235139"/>
            <a:ext cx="6775800" cy="3622200"/>
          </a:xfrm>
          <a:prstGeom prst="roundRect">
            <a:avLst>
              <a:gd fmla="val 2020" name="adj"/>
            </a:avLst>
          </a:prstGeom>
          <a:solidFill>
            <a:srgbClr val="111C2B"/>
          </a:solidFill>
          <a:ln cap="flat" cmpd="sng" w="12700">
            <a:solidFill>
              <a:srgbClr val="1E2E42"/>
            </a:solidFill>
            <a:prstDash val="solid"/>
            <a:round/>
            <a:headEnd len="sm" w="sm" type="none"/>
            <a:tailEnd len="sm" w="sm" type="none"/>
          </a:ln>
          <a:effectLst>
            <a:outerShdw blurRad="228600" rotWithShape="0" algn="bl" dir="5400000" dist="76200">
              <a:srgbClr val="000000">
                <a:alpha val="451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p12"/>
          <p:cNvSpPr/>
          <p:nvPr/>
        </p:nvSpPr>
        <p:spPr>
          <a:xfrm>
            <a:off x="502920" y="3143250"/>
            <a:ext cx="38100" cy="1333500"/>
          </a:xfrm>
          <a:prstGeom prst="roundRect">
            <a:avLst>
              <a:gd fmla="val 50000" name="adj"/>
            </a:avLst>
          </a:prstGeom>
          <a:solidFill>
            <a:srgbClr val="F5A429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p12"/>
          <p:cNvSpPr txBox="1"/>
          <p:nvPr/>
        </p:nvSpPr>
        <p:spPr>
          <a:xfrm>
            <a:off x="693420" y="3286125"/>
            <a:ext cx="3810000" cy="104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rgbClr val="F5A429"/>
                </a:solidFill>
                <a:latin typeface="Calibri"/>
                <a:ea typeface="Calibri"/>
                <a:cs typeface="Calibri"/>
                <a:sym typeface="Calibri"/>
              </a:rPr>
              <a:t>02 · LIVE COUNTS</a:t>
            </a:r>
            <a:endParaRPr b="1" sz="1000">
              <a:solidFill>
                <a:srgbClr val="F5A42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225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F2F6F9"/>
                </a:solidFill>
                <a:latin typeface="Cambria"/>
                <a:ea typeface="Cambria"/>
                <a:cs typeface="Cambria"/>
                <a:sym typeface="Cambria"/>
              </a:rPr>
              <a:t>Intelligent Grouping</a:t>
            </a:r>
            <a:endParaRPr b="1" sz="1000">
              <a:solidFill>
                <a:srgbClr val="F5A42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450"/>
              </a:spcBef>
              <a:spcAft>
                <a:spcPts val="0"/>
              </a:spcAft>
              <a:buNone/>
            </a:pPr>
            <a:r>
              <a:rPr b="0" lang="en-US" sz="1150">
                <a:solidFill>
                  <a:srgbClr val="8CA0B3"/>
                </a:solidFill>
                <a:latin typeface="Calibri"/>
                <a:ea typeface="Calibri"/>
                <a:cs typeface="Calibri"/>
                <a:sym typeface="Calibri"/>
              </a:rPr>
              <a:t>Grouped by category (e.g. Gastrointestinal) with a live condition count badge — 45 conditions in this example.</a:t>
            </a:r>
            <a:endParaRPr b="1" sz="1000">
              <a:solidFill>
                <a:srgbClr val="F5A42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sessions/optimistic-gifted-hawking/mnt/outputs/pptbuild/images/09_illness_list.png" id="211" name="Google Shape;211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074920" y="2354011"/>
            <a:ext cx="6537962" cy="3384416"/>
          </a:xfrm>
          <a:prstGeom prst="rect">
            <a:avLst/>
          </a:prstGeom>
          <a:noFill/>
          <a:ln>
            <a:noFill/>
          </a:ln>
        </p:spPr>
      </p:pic>
      <p:sp>
        <p:nvSpPr>
          <p:cNvPr id="212" name="Google Shape;212;p12"/>
          <p:cNvSpPr/>
          <p:nvPr/>
        </p:nvSpPr>
        <p:spPr>
          <a:xfrm>
            <a:off x="502920" y="1666875"/>
            <a:ext cx="38100" cy="1333500"/>
          </a:xfrm>
          <a:prstGeom prst="roundRect">
            <a:avLst>
              <a:gd fmla="val 50000" name="adj"/>
            </a:avLst>
          </a:prstGeom>
          <a:solidFill>
            <a:srgbClr val="F5A429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p12"/>
          <p:cNvSpPr txBox="1"/>
          <p:nvPr/>
        </p:nvSpPr>
        <p:spPr>
          <a:xfrm>
            <a:off x="693420" y="1809750"/>
            <a:ext cx="3810000" cy="104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rgbClr val="F5A429"/>
                </a:solidFill>
                <a:latin typeface="Calibri"/>
                <a:ea typeface="Calibri"/>
                <a:cs typeface="Calibri"/>
                <a:sym typeface="Calibri"/>
              </a:rPr>
              <a:t>01 · PLAN INTEGRATION</a:t>
            </a:r>
            <a:endParaRPr b="1" sz="1000">
              <a:solidFill>
                <a:srgbClr val="F5A42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225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F2F6F9"/>
                </a:solidFill>
                <a:latin typeface="Cambria"/>
                <a:ea typeface="Cambria"/>
                <a:cs typeface="Cambria"/>
                <a:sym typeface="Cambria"/>
              </a:rPr>
              <a:t>Full Searchable List</a:t>
            </a:r>
            <a:endParaRPr b="1" sz="1000">
              <a:solidFill>
                <a:srgbClr val="F5A42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450"/>
              </a:spcBef>
              <a:spcAft>
                <a:spcPts val="0"/>
              </a:spcAft>
              <a:buNone/>
            </a:pPr>
            <a:r>
              <a:rPr b="0" lang="en-US" sz="1150">
                <a:solidFill>
                  <a:srgbClr val="8CA0B3"/>
                </a:solidFill>
                <a:latin typeface="Calibri"/>
                <a:ea typeface="Calibri"/>
                <a:cs typeface="Calibri"/>
                <a:sym typeface="Calibri"/>
              </a:rPr>
              <a:t>The full, searchable, per-plan list of every condition with plan-specific handling.</a:t>
            </a:r>
            <a:endParaRPr b="1" sz="1000">
              <a:solidFill>
                <a:srgbClr val="F5A42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12"/>
          <p:cNvSpPr/>
          <p:nvPr/>
        </p:nvSpPr>
        <p:spPr>
          <a:xfrm>
            <a:off x="502920" y="4619625"/>
            <a:ext cx="38100" cy="1333500"/>
          </a:xfrm>
          <a:prstGeom prst="roundRect">
            <a:avLst>
              <a:gd fmla="val 50000" name="adj"/>
            </a:avLst>
          </a:prstGeom>
          <a:solidFill>
            <a:srgbClr val="F5A429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12"/>
          <p:cNvSpPr txBox="1"/>
          <p:nvPr/>
        </p:nvSpPr>
        <p:spPr>
          <a:xfrm>
            <a:off x="693420" y="4762500"/>
            <a:ext cx="3810000" cy="104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rgbClr val="F5A429"/>
                </a:solidFill>
                <a:latin typeface="Calibri"/>
                <a:ea typeface="Calibri"/>
                <a:cs typeface="Calibri"/>
                <a:sym typeface="Calibri"/>
              </a:rPr>
              <a:t>03 · INSTANT FILTERS</a:t>
            </a:r>
            <a:endParaRPr b="1" sz="1000">
              <a:solidFill>
                <a:srgbClr val="F5A42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225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F2F6F9"/>
                </a:solidFill>
                <a:latin typeface="Cambria"/>
                <a:ea typeface="Cambria"/>
                <a:cs typeface="Cambria"/>
                <a:sym typeface="Cambria"/>
              </a:rPr>
              <a:t>Smart Search</a:t>
            </a:r>
            <a:endParaRPr b="1" sz="1000">
              <a:solidFill>
                <a:srgbClr val="F5A42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450"/>
              </a:spcBef>
              <a:spcAft>
                <a:spcPts val="0"/>
              </a:spcAft>
              <a:buNone/>
            </a:pPr>
            <a:r>
              <a:rPr b="0" lang="en-US" sz="1150">
                <a:solidFill>
                  <a:srgbClr val="8CA0B3"/>
                </a:solidFill>
                <a:latin typeface="Calibri"/>
                <a:ea typeface="Calibri"/>
                <a:cs typeface="Calibri"/>
                <a:sym typeface="Calibri"/>
              </a:rPr>
              <a:t>Search narrows instantly by illness name or category to find specific rules immediately.</a:t>
            </a:r>
            <a:endParaRPr b="1" sz="1000">
              <a:solidFill>
                <a:srgbClr val="F5A42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12"/>
          <p:cNvSpPr/>
          <p:nvPr/>
        </p:nvSpPr>
        <p:spPr>
          <a:xfrm>
            <a:off x="502920" y="6519672"/>
            <a:ext cx="64008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850">
                <a:solidFill>
                  <a:srgbClr val="5C7086"/>
                </a:solidFill>
                <a:latin typeface="Calibri"/>
                <a:ea typeface="Calibri"/>
                <a:cs typeface="Calibri"/>
                <a:sym typeface="Calibri"/>
              </a:rPr>
              <a:t>DECLARATION ASSISTANT — YOUR PAYMENT ASSISTANT</a:t>
            </a:r>
            <a:endParaRPr sz="850">
              <a:solidFill>
                <a:srgbClr val="5C708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12"/>
          <p:cNvSpPr/>
          <p:nvPr/>
        </p:nvSpPr>
        <p:spPr>
          <a:xfrm>
            <a:off x="11521440" y="6519672"/>
            <a:ext cx="457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C7086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5C7086"/>
                </a:solidFill>
                <a:latin typeface="Calibri"/>
                <a:ea typeface="Calibri"/>
                <a:cs typeface="Calibri"/>
                <a:sym typeface="Calibri"/>
              </a:rPr>
              <a:t>12</a:t>
            </a:r>
            <a:endParaRPr b="0" i="0" sz="8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1420"/>
        </a:solidFill>
      </p:bgPr>
    </p:bg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13"/>
          <p:cNvSpPr/>
          <p:nvPr/>
        </p:nvSpPr>
        <p:spPr>
          <a:xfrm>
            <a:off x="502920" y="475488"/>
            <a:ext cx="128100" cy="128100"/>
          </a:xfrm>
          <a:prstGeom prst="ellipse">
            <a:avLst/>
          </a:prstGeom>
          <a:solidFill>
            <a:srgbClr val="E2596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Google Shape;224;p13"/>
          <p:cNvSpPr/>
          <p:nvPr/>
        </p:nvSpPr>
        <p:spPr>
          <a:xfrm>
            <a:off x="731520" y="365760"/>
            <a:ext cx="73152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596B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E2596B"/>
                </a:solidFill>
                <a:latin typeface="Calibri"/>
                <a:ea typeface="Calibri"/>
                <a:cs typeface="Calibri"/>
                <a:sym typeface="Calibri"/>
              </a:rPr>
              <a:t>PART </a:t>
            </a:r>
            <a:r>
              <a:rPr b="1" lang="en-US" sz="1200">
                <a:solidFill>
                  <a:srgbClr val="E2596B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r>
              <a:rPr b="1" i="0" lang="en-US" sz="1200" u="none" cap="none" strike="noStrike">
                <a:solidFill>
                  <a:srgbClr val="E2596B"/>
                </a:solidFill>
                <a:latin typeface="Calibri"/>
                <a:ea typeface="Calibri"/>
                <a:cs typeface="Calibri"/>
                <a:sym typeface="Calibri"/>
              </a:rPr>
              <a:t> · QUICK REFERENCE SIDEBAR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13"/>
          <p:cNvSpPr/>
          <p:nvPr/>
        </p:nvSpPr>
        <p:spPr>
          <a:xfrm>
            <a:off x="502920" y="685800"/>
            <a:ext cx="78639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Clr>
                <a:srgbClr val="F2F6F9"/>
              </a:buClr>
              <a:buSzPts val="3200"/>
              <a:buFont typeface="Cambria"/>
              <a:buNone/>
            </a:pPr>
            <a:r>
              <a:rPr b="1" i="0" lang="en-US" sz="3200" u="none" cap="none" strike="noStrike">
                <a:solidFill>
                  <a:srgbClr val="F2F6F9"/>
                </a:solidFill>
                <a:latin typeface="Cambria"/>
                <a:ea typeface="Cambria"/>
                <a:cs typeface="Cambria"/>
                <a:sym typeface="Cambria"/>
              </a:rPr>
              <a:t>Overlap Rules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26" name="Google Shape;226;p13"/>
          <p:cNvGrpSpPr/>
          <p:nvPr/>
        </p:nvGrpSpPr>
        <p:grpSpPr>
          <a:xfrm>
            <a:off x="502920" y="3143250"/>
            <a:ext cx="4191000" cy="1285800"/>
            <a:chOff x="0" y="0"/>
            <a:chExt cx="4191000" cy="1285800"/>
          </a:xfrm>
        </p:grpSpPr>
        <p:sp>
          <p:nvSpPr>
            <p:cNvPr id="227" name="Google Shape;227;p13"/>
            <p:cNvSpPr/>
            <p:nvPr/>
          </p:nvSpPr>
          <p:spPr>
            <a:xfrm>
              <a:off x="0" y="0"/>
              <a:ext cx="4191000" cy="1285800"/>
            </a:xfrm>
            <a:prstGeom prst="roundRect">
              <a:avLst>
                <a:gd fmla="val 5925" name="adj"/>
              </a:avLst>
            </a:prstGeom>
            <a:solidFill>
              <a:srgbClr val="111C2B"/>
            </a:solidFill>
            <a:ln cap="flat" cmpd="sng" w="9525">
              <a:solidFill>
                <a:srgbClr val="1E2E4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8" name="Google Shape;228;p13"/>
            <p:cNvSpPr/>
            <p:nvPr/>
          </p:nvSpPr>
          <p:spPr>
            <a:xfrm>
              <a:off x="0" y="0"/>
              <a:ext cx="38100" cy="1285800"/>
            </a:xfrm>
            <a:prstGeom prst="roundRect">
              <a:avLst>
                <a:gd fmla="val 50000" name="adj"/>
              </a:avLst>
            </a:prstGeom>
            <a:solidFill>
              <a:srgbClr val="E2596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9" name="Google Shape;229;p13"/>
            <p:cNvSpPr txBox="1"/>
            <p:nvPr/>
          </p:nvSpPr>
          <p:spPr>
            <a:xfrm>
              <a:off x="190500" y="142875"/>
              <a:ext cx="3810000" cy="10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000">
                  <a:solidFill>
                    <a:srgbClr val="E2596B"/>
                  </a:solidFill>
                  <a:latin typeface="Calibri"/>
                  <a:ea typeface="Calibri"/>
                  <a:cs typeface="Calibri"/>
                  <a:sym typeface="Calibri"/>
                </a:rPr>
                <a:t>02 · THE FLOW</a:t>
              </a:r>
              <a:endParaRPr b="1" sz="1000">
                <a:solidFill>
                  <a:srgbClr val="E2596B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1" lang="en-US" sz="1500">
                  <a:solidFill>
                    <a:srgbClr val="F2F6F9"/>
                  </a:solidFill>
                  <a:latin typeface="Cambria"/>
                  <a:ea typeface="Cambria"/>
                  <a:cs typeface="Cambria"/>
                  <a:sym typeface="Cambria"/>
                </a:rPr>
                <a:t>Four Decision Branches</a:t>
              </a:r>
              <a:endParaRPr b="1" sz="1500">
                <a:solidFill>
                  <a:srgbClr val="F2F6F9"/>
                </a:solidFill>
                <a:latin typeface="Cambria"/>
                <a:ea typeface="Cambria"/>
                <a:cs typeface="Cambria"/>
                <a:sym typeface="Cambria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-US" sz="1150">
                  <a:solidFill>
                    <a:srgbClr val="8CA0B3"/>
                  </a:solidFill>
                  <a:latin typeface="Calibri"/>
                  <a:ea typeface="Calibri"/>
                  <a:cs typeface="Calibri"/>
                  <a:sym typeface="Calibri"/>
                </a:rPr>
                <a:t>Covered by: PED × Medication, PED/No-PED × Investigative Tests, PED × Surgery, and PED × Hospitalization.</a:t>
              </a:r>
              <a:endParaRPr b="0" sz="1150">
                <a:solidFill>
                  <a:srgbClr val="8CA0B3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30" name="Google Shape;230;p13"/>
          <p:cNvGrpSpPr/>
          <p:nvPr/>
        </p:nvGrpSpPr>
        <p:grpSpPr>
          <a:xfrm>
            <a:off x="502920" y="4572000"/>
            <a:ext cx="4191000" cy="1285800"/>
            <a:chOff x="0" y="0"/>
            <a:chExt cx="4191000" cy="1285800"/>
          </a:xfrm>
        </p:grpSpPr>
        <p:sp>
          <p:nvSpPr>
            <p:cNvPr id="231" name="Google Shape;231;p13"/>
            <p:cNvSpPr/>
            <p:nvPr/>
          </p:nvSpPr>
          <p:spPr>
            <a:xfrm>
              <a:off x="0" y="0"/>
              <a:ext cx="4191000" cy="1285800"/>
            </a:xfrm>
            <a:prstGeom prst="roundRect">
              <a:avLst>
                <a:gd fmla="val 5925" name="adj"/>
              </a:avLst>
            </a:prstGeom>
            <a:solidFill>
              <a:srgbClr val="111C2B"/>
            </a:solidFill>
            <a:ln cap="flat" cmpd="sng" w="9525">
              <a:solidFill>
                <a:srgbClr val="1E2E4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2" name="Google Shape;232;p13"/>
            <p:cNvSpPr/>
            <p:nvPr/>
          </p:nvSpPr>
          <p:spPr>
            <a:xfrm>
              <a:off x="0" y="0"/>
              <a:ext cx="38100" cy="1285800"/>
            </a:xfrm>
            <a:prstGeom prst="roundRect">
              <a:avLst>
                <a:gd fmla="val 50000" name="adj"/>
              </a:avLst>
            </a:prstGeom>
            <a:solidFill>
              <a:srgbClr val="E2596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3" name="Google Shape;233;p13"/>
            <p:cNvSpPr txBox="1"/>
            <p:nvPr/>
          </p:nvSpPr>
          <p:spPr>
            <a:xfrm>
              <a:off x="190500" y="142875"/>
              <a:ext cx="3810000" cy="10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000">
                  <a:solidFill>
                    <a:srgbClr val="E2596B"/>
                  </a:solidFill>
                  <a:latin typeface="Calibri"/>
                  <a:ea typeface="Calibri"/>
                  <a:cs typeface="Calibri"/>
                  <a:sym typeface="Calibri"/>
                </a:rPr>
                <a:t>03 · FINAL DECISION LAYER</a:t>
              </a:r>
              <a:endParaRPr b="1" sz="1000">
                <a:solidFill>
                  <a:srgbClr val="E2596B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1" lang="en-US" sz="1500">
                  <a:solidFill>
                    <a:srgbClr val="F2F6F9"/>
                  </a:solidFill>
                  <a:latin typeface="Cambria"/>
                  <a:ea typeface="Cambria"/>
                  <a:cs typeface="Cambria"/>
                  <a:sym typeface="Cambria"/>
                </a:rPr>
                <a:t>Find the Priorities and Options</a:t>
              </a:r>
              <a:endParaRPr b="1" sz="1500">
                <a:solidFill>
                  <a:srgbClr val="F2F6F9"/>
                </a:solidFill>
                <a:latin typeface="Cambria"/>
                <a:ea typeface="Cambria"/>
                <a:cs typeface="Cambria"/>
                <a:sym typeface="Cambria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-US" sz="1150">
                  <a:solidFill>
                    <a:srgbClr val="8CA0B3"/>
                  </a:solidFill>
                  <a:latin typeface="Calibri"/>
                  <a:ea typeface="Calibri"/>
                  <a:cs typeface="Calibri"/>
                  <a:sym typeface="Calibri"/>
                </a:rPr>
                <a:t>Read applicable branch content and decide how and where to declare from the available listed options</a:t>
              </a:r>
              <a:endParaRPr b="0" sz="1150">
                <a:solidFill>
                  <a:srgbClr val="8CA0B3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34" name="Google Shape;234;p13"/>
          <p:cNvSpPr/>
          <p:nvPr/>
        </p:nvSpPr>
        <p:spPr>
          <a:xfrm>
            <a:off x="4956048" y="2235139"/>
            <a:ext cx="6775800" cy="3622200"/>
          </a:xfrm>
          <a:prstGeom prst="roundRect">
            <a:avLst>
              <a:gd fmla="val 2020" name="adj"/>
            </a:avLst>
          </a:prstGeom>
          <a:solidFill>
            <a:srgbClr val="111C2B"/>
          </a:solidFill>
          <a:ln cap="flat" cmpd="sng" w="12700">
            <a:solidFill>
              <a:srgbClr val="1E2E42"/>
            </a:solidFill>
            <a:prstDash val="solid"/>
            <a:round/>
            <a:headEnd len="sm" w="sm" type="none"/>
            <a:tailEnd len="sm" w="sm" type="none"/>
          </a:ln>
          <a:effectLst>
            <a:outerShdw blurRad="228600" rotWithShape="0" algn="bl" dir="5400000" dist="76200">
              <a:srgbClr val="000000">
                <a:alpha val="4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sessions/optimistic-gifted-hawking/mnt/outputs/pptbuild/images/07_overlap_rules.png" id="235" name="Google Shape;235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074920" y="2354011"/>
            <a:ext cx="6537962" cy="3384416"/>
          </a:xfrm>
          <a:prstGeom prst="rect">
            <a:avLst/>
          </a:prstGeom>
          <a:noFill/>
          <a:ln>
            <a:noFill/>
          </a:ln>
        </p:spPr>
      </p:pic>
      <p:sp>
        <p:nvSpPr>
          <p:cNvPr id="236" name="Google Shape;236;p13"/>
          <p:cNvSpPr/>
          <p:nvPr/>
        </p:nvSpPr>
        <p:spPr>
          <a:xfrm>
            <a:off x="502920" y="6519672"/>
            <a:ext cx="64008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850">
                <a:solidFill>
                  <a:srgbClr val="5C7086"/>
                </a:solidFill>
                <a:latin typeface="Calibri"/>
                <a:ea typeface="Calibri"/>
                <a:cs typeface="Calibri"/>
                <a:sym typeface="Calibri"/>
              </a:rPr>
              <a:t>DECLARATION ASSISTANT — YOUR PAYMENT ASSISTANT</a:t>
            </a:r>
            <a:endParaRPr sz="850">
              <a:solidFill>
                <a:srgbClr val="5C708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13"/>
          <p:cNvSpPr/>
          <p:nvPr/>
        </p:nvSpPr>
        <p:spPr>
          <a:xfrm>
            <a:off x="11521440" y="6519672"/>
            <a:ext cx="457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C7086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5C7086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38" name="Google Shape;238;p13"/>
          <p:cNvGrpSpPr/>
          <p:nvPr/>
        </p:nvGrpSpPr>
        <p:grpSpPr>
          <a:xfrm>
            <a:off x="502920" y="1714500"/>
            <a:ext cx="4191000" cy="1285800"/>
            <a:chOff x="0" y="0"/>
            <a:chExt cx="4191000" cy="1285800"/>
          </a:xfrm>
        </p:grpSpPr>
        <p:sp>
          <p:nvSpPr>
            <p:cNvPr id="239" name="Google Shape;239;p13"/>
            <p:cNvSpPr/>
            <p:nvPr/>
          </p:nvSpPr>
          <p:spPr>
            <a:xfrm>
              <a:off x="0" y="0"/>
              <a:ext cx="4191000" cy="1285800"/>
            </a:xfrm>
            <a:prstGeom prst="roundRect">
              <a:avLst>
                <a:gd fmla="val 5925" name="adj"/>
              </a:avLst>
            </a:prstGeom>
            <a:solidFill>
              <a:srgbClr val="111C2B"/>
            </a:solidFill>
            <a:ln cap="flat" cmpd="sng" w="9525">
              <a:solidFill>
                <a:srgbClr val="1E2E4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0" name="Google Shape;240;p13"/>
            <p:cNvSpPr/>
            <p:nvPr/>
          </p:nvSpPr>
          <p:spPr>
            <a:xfrm>
              <a:off x="0" y="0"/>
              <a:ext cx="38100" cy="1285800"/>
            </a:xfrm>
            <a:prstGeom prst="roundRect">
              <a:avLst>
                <a:gd fmla="val 50000" name="adj"/>
              </a:avLst>
            </a:prstGeom>
            <a:solidFill>
              <a:srgbClr val="E2596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1" name="Google Shape;241;p13"/>
            <p:cNvSpPr txBox="1"/>
            <p:nvPr/>
          </p:nvSpPr>
          <p:spPr>
            <a:xfrm>
              <a:off x="190500" y="142875"/>
              <a:ext cx="3810000" cy="10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000">
                  <a:solidFill>
                    <a:srgbClr val="E2596B"/>
                  </a:solidFill>
                  <a:latin typeface="Calibri"/>
                  <a:ea typeface="Calibri"/>
                  <a:cs typeface="Calibri"/>
                  <a:sym typeface="Calibri"/>
                </a:rPr>
                <a:t>01 · CORE CONCEPT</a:t>
              </a:r>
              <a:endParaRPr b="1" sz="1000">
                <a:solidFill>
                  <a:srgbClr val="E2596B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1" lang="en-US" sz="1500">
                  <a:solidFill>
                    <a:srgbClr val="F2F6F9"/>
                  </a:solidFill>
                  <a:latin typeface="Cambria"/>
                  <a:ea typeface="Cambria"/>
                  <a:cs typeface="Cambria"/>
                  <a:sym typeface="Cambria"/>
                </a:rPr>
                <a:t>Tricky Overlaps</a:t>
              </a:r>
              <a:endParaRPr b="1" sz="1500">
                <a:solidFill>
                  <a:srgbClr val="F2F6F9"/>
                </a:solidFill>
                <a:latin typeface="Cambria"/>
                <a:ea typeface="Cambria"/>
                <a:cs typeface="Cambria"/>
                <a:sym typeface="Cambria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-US" sz="1150">
                  <a:solidFill>
                    <a:srgbClr val="8CA0B3"/>
                  </a:solidFill>
                  <a:latin typeface="Calibri"/>
                  <a:ea typeface="Calibri"/>
                  <a:cs typeface="Calibri"/>
                  <a:sym typeface="Calibri"/>
                </a:rPr>
                <a:t>Handles cases where a condition fits both a main declaration question and an umbrella question.</a:t>
              </a:r>
              <a:endParaRPr b="0" sz="1150">
                <a:solidFill>
                  <a:srgbClr val="8CA0B3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1420"/>
        </a:solidFill>
      </p:bgPr>
    </p:bg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14"/>
          <p:cNvSpPr/>
          <p:nvPr/>
        </p:nvSpPr>
        <p:spPr>
          <a:xfrm>
            <a:off x="502920" y="475488"/>
            <a:ext cx="128100" cy="128100"/>
          </a:xfrm>
          <a:prstGeom prst="ellipse">
            <a:avLst/>
          </a:prstGeom>
          <a:solidFill>
            <a:srgbClr val="8B7C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" name="Google Shape;248;p14"/>
          <p:cNvSpPr/>
          <p:nvPr/>
        </p:nvSpPr>
        <p:spPr>
          <a:xfrm>
            <a:off x="731520" y="365760"/>
            <a:ext cx="73152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7CF0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8B7CF0"/>
                </a:solidFill>
                <a:latin typeface="Calibri"/>
                <a:ea typeface="Calibri"/>
                <a:cs typeface="Calibri"/>
                <a:sym typeface="Calibri"/>
              </a:rPr>
              <a:t>PART </a:t>
            </a:r>
            <a:r>
              <a:rPr b="1" lang="en-US" sz="1200">
                <a:solidFill>
                  <a:srgbClr val="8B7CF0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r>
              <a:rPr b="1" i="0" lang="en-US" sz="1200" u="none" cap="none" strike="noStrike">
                <a:solidFill>
                  <a:srgbClr val="8B7CF0"/>
                </a:solidFill>
                <a:latin typeface="Calibri"/>
                <a:ea typeface="Calibri"/>
                <a:cs typeface="Calibri"/>
                <a:sym typeface="Calibri"/>
              </a:rPr>
              <a:t> · QUICK REFERENCE SIDEBAR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14"/>
          <p:cNvSpPr/>
          <p:nvPr/>
        </p:nvSpPr>
        <p:spPr>
          <a:xfrm>
            <a:off x="502920" y="685800"/>
            <a:ext cx="78639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Clr>
                <a:srgbClr val="F2F6F9"/>
              </a:buClr>
              <a:buSzPts val="3200"/>
              <a:buFont typeface="Cambria"/>
              <a:buNone/>
            </a:pPr>
            <a:r>
              <a:rPr b="1" i="0" lang="en-US" sz="3200" u="none" cap="none" strike="noStrike">
                <a:solidFill>
                  <a:srgbClr val="F2F6F9"/>
                </a:solidFill>
                <a:latin typeface="Cambria"/>
                <a:ea typeface="Cambria"/>
                <a:cs typeface="Cambria"/>
                <a:sym typeface="Cambria"/>
              </a:rPr>
              <a:t>Payment Journey Questions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50" name="Google Shape;250;p14"/>
          <p:cNvGrpSpPr/>
          <p:nvPr/>
        </p:nvGrpSpPr>
        <p:grpSpPr>
          <a:xfrm>
            <a:off x="502920" y="1666875"/>
            <a:ext cx="4191000" cy="1381200"/>
            <a:chOff x="0" y="0"/>
            <a:chExt cx="4191000" cy="1381200"/>
          </a:xfrm>
        </p:grpSpPr>
        <p:sp>
          <p:nvSpPr>
            <p:cNvPr id="251" name="Google Shape;251;p14"/>
            <p:cNvSpPr/>
            <p:nvPr/>
          </p:nvSpPr>
          <p:spPr>
            <a:xfrm>
              <a:off x="0" y="0"/>
              <a:ext cx="4191000" cy="1381200"/>
            </a:xfrm>
            <a:prstGeom prst="roundRect">
              <a:avLst>
                <a:gd fmla="val 5517" name="adj"/>
              </a:avLst>
            </a:prstGeom>
            <a:solidFill>
              <a:srgbClr val="111C2B"/>
            </a:solidFill>
            <a:ln cap="flat" cmpd="sng" w="9525">
              <a:solidFill>
                <a:srgbClr val="1E2E4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2" name="Google Shape;252;p14"/>
            <p:cNvSpPr/>
            <p:nvPr/>
          </p:nvSpPr>
          <p:spPr>
            <a:xfrm>
              <a:off x="0" y="0"/>
              <a:ext cx="38100" cy="1381200"/>
            </a:xfrm>
            <a:prstGeom prst="roundRect">
              <a:avLst>
                <a:gd fmla="val 50000" name="adj"/>
              </a:avLst>
            </a:prstGeom>
            <a:solidFill>
              <a:srgbClr val="8B7CF0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3" name="Google Shape;253;p14"/>
            <p:cNvSpPr txBox="1"/>
            <p:nvPr/>
          </p:nvSpPr>
          <p:spPr>
            <a:xfrm>
              <a:off x="190500" y="142875"/>
              <a:ext cx="3810000" cy="1095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000">
                  <a:solidFill>
                    <a:srgbClr val="8B7CF0"/>
                  </a:solidFill>
                  <a:latin typeface="Calibri"/>
                  <a:ea typeface="Calibri"/>
                  <a:cs typeface="Calibri"/>
                  <a:sym typeface="Calibri"/>
                </a:rPr>
                <a:t>01 · GROUND TRUTH</a:t>
              </a:r>
              <a:endParaRPr b="1" sz="1000">
                <a:solidFill>
                  <a:srgbClr val="8B7CF0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spcBef>
                  <a:spcPts val="225"/>
                </a:spcBef>
                <a:spcAft>
                  <a:spcPts val="0"/>
                </a:spcAft>
                <a:buNone/>
              </a:pPr>
              <a:r>
                <a:rPr b="1" lang="en-US" sz="1500">
                  <a:solidFill>
                    <a:srgbClr val="F2F6F9"/>
                  </a:solidFill>
                  <a:latin typeface="Cambria"/>
                  <a:ea typeface="Cambria"/>
                  <a:cs typeface="Cambria"/>
                  <a:sym typeface="Cambria"/>
                </a:rPr>
                <a:t>Declaration Questions</a:t>
              </a:r>
              <a:endParaRPr b="1" sz="1000">
                <a:solidFill>
                  <a:srgbClr val="8B7CF0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0" lang="en-US" sz="1100">
                  <a:solidFill>
                    <a:srgbClr val="8CA0B3"/>
                  </a:solidFill>
                  <a:latin typeface="Calibri"/>
                  <a:ea typeface="Calibri"/>
                  <a:cs typeface="Calibri"/>
                  <a:sym typeface="Calibri"/>
                </a:rPr>
                <a:t>The full numbered list of declaration questions in the actual payment journey — the ground truth advisors map every PED against.</a:t>
              </a:r>
              <a:endParaRPr b="1" sz="1000">
                <a:solidFill>
                  <a:srgbClr val="8B7CF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54" name="Google Shape;254;p14"/>
          <p:cNvSpPr/>
          <p:nvPr/>
        </p:nvSpPr>
        <p:spPr>
          <a:xfrm>
            <a:off x="4956048" y="2235139"/>
            <a:ext cx="6775800" cy="3622200"/>
          </a:xfrm>
          <a:prstGeom prst="roundRect">
            <a:avLst>
              <a:gd fmla="val 2020" name="adj"/>
            </a:avLst>
          </a:prstGeom>
          <a:solidFill>
            <a:srgbClr val="111C2B"/>
          </a:solidFill>
          <a:ln cap="flat" cmpd="sng" w="12700">
            <a:solidFill>
              <a:srgbClr val="1E2E42"/>
            </a:solidFill>
            <a:prstDash val="solid"/>
            <a:round/>
            <a:headEnd len="sm" w="sm" type="none"/>
            <a:tailEnd len="sm" w="sm" type="none"/>
          </a:ln>
          <a:effectLst>
            <a:outerShdw blurRad="228600" rotWithShape="0" algn="bl" dir="5400000" dist="76200">
              <a:srgbClr val="000000">
                <a:alpha val="4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55" name="Google Shape;255;p14"/>
          <p:cNvGrpSpPr/>
          <p:nvPr/>
        </p:nvGrpSpPr>
        <p:grpSpPr>
          <a:xfrm>
            <a:off x="502920" y="3190875"/>
            <a:ext cx="4191000" cy="1381200"/>
            <a:chOff x="0" y="0"/>
            <a:chExt cx="4191000" cy="1381200"/>
          </a:xfrm>
        </p:grpSpPr>
        <p:sp>
          <p:nvSpPr>
            <p:cNvPr id="256" name="Google Shape;256;p14"/>
            <p:cNvSpPr/>
            <p:nvPr/>
          </p:nvSpPr>
          <p:spPr>
            <a:xfrm>
              <a:off x="0" y="0"/>
              <a:ext cx="4191000" cy="1381200"/>
            </a:xfrm>
            <a:prstGeom prst="roundRect">
              <a:avLst>
                <a:gd fmla="val 5517" name="adj"/>
              </a:avLst>
            </a:prstGeom>
            <a:solidFill>
              <a:srgbClr val="111C2B"/>
            </a:solidFill>
            <a:ln cap="flat" cmpd="sng" w="9525">
              <a:solidFill>
                <a:srgbClr val="1E2E4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7" name="Google Shape;257;p14"/>
            <p:cNvSpPr/>
            <p:nvPr/>
          </p:nvSpPr>
          <p:spPr>
            <a:xfrm>
              <a:off x="0" y="0"/>
              <a:ext cx="38100" cy="1381200"/>
            </a:xfrm>
            <a:prstGeom prst="roundRect">
              <a:avLst>
                <a:gd fmla="val 50000" name="adj"/>
              </a:avLst>
            </a:prstGeom>
            <a:solidFill>
              <a:srgbClr val="8B7CF0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8" name="Google Shape;258;p14"/>
            <p:cNvSpPr txBox="1"/>
            <p:nvPr/>
          </p:nvSpPr>
          <p:spPr>
            <a:xfrm>
              <a:off x="190500" y="142875"/>
              <a:ext cx="3810000" cy="1095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000">
                  <a:solidFill>
                    <a:srgbClr val="8B7CF0"/>
                  </a:solidFill>
                  <a:latin typeface="Calibri"/>
                  <a:ea typeface="Calibri"/>
                  <a:cs typeface="Calibri"/>
                  <a:sym typeface="Calibri"/>
                </a:rPr>
                <a:t>02 · INLINE HIGHLIGHT</a:t>
              </a:r>
              <a:endParaRPr b="1" sz="1000">
                <a:solidFill>
                  <a:srgbClr val="8B7CF0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spcBef>
                  <a:spcPts val="225"/>
                </a:spcBef>
                <a:spcAft>
                  <a:spcPts val="0"/>
                </a:spcAft>
                <a:buNone/>
              </a:pPr>
              <a:r>
                <a:rPr b="1" lang="en-US" sz="1500">
                  <a:solidFill>
                    <a:srgbClr val="F2F6F9"/>
                  </a:solidFill>
                  <a:latin typeface="Cambria"/>
                  <a:ea typeface="Cambria"/>
                  <a:cs typeface="Cambria"/>
                  <a:sym typeface="Cambria"/>
                </a:rPr>
                <a:t>Matched Questions</a:t>
              </a:r>
              <a:endParaRPr b="1" sz="1000">
                <a:solidFill>
                  <a:srgbClr val="8B7CF0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0" lang="en-US" sz="1100">
                  <a:solidFill>
                    <a:srgbClr val="8CA0B3"/>
                  </a:solidFill>
                  <a:latin typeface="Calibri"/>
                  <a:ea typeface="Calibri"/>
                  <a:cs typeface="Calibri"/>
                  <a:sym typeface="Calibri"/>
                </a:rPr>
                <a:t>Matched questions highlight inline as you look them up, so you can see exactly which numbered question a PED lands on.</a:t>
              </a:r>
              <a:endParaRPr b="1" sz="1000">
                <a:solidFill>
                  <a:srgbClr val="8B7CF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descr="/sessions/optimistic-gifted-hawking/mnt/outputs/pptbuild/images/08_payment_journey.png" id="259" name="Google Shape;259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074920" y="2354011"/>
            <a:ext cx="6537962" cy="338441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60" name="Google Shape;260;p14"/>
          <p:cNvGrpSpPr/>
          <p:nvPr/>
        </p:nvGrpSpPr>
        <p:grpSpPr>
          <a:xfrm>
            <a:off x="502920" y="4714875"/>
            <a:ext cx="4191000" cy="1381200"/>
            <a:chOff x="0" y="0"/>
            <a:chExt cx="4191000" cy="1381200"/>
          </a:xfrm>
        </p:grpSpPr>
        <p:sp>
          <p:nvSpPr>
            <p:cNvPr id="261" name="Google Shape;261;p14"/>
            <p:cNvSpPr/>
            <p:nvPr/>
          </p:nvSpPr>
          <p:spPr>
            <a:xfrm>
              <a:off x="0" y="0"/>
              <a:ext cx="4191000" cy="1381200"/>
            </a:xfrm>
            <a:prstGeom prst="roundRect">
              <a:avLst>
                <a:gd fmla="val 5517" name="adj"/>
              </a:avLst>
            </a:prstGeom>
            <a:solidFill>
              <a:srgbClr val="111C2B"/>
            </a:solidFill>
            <a:ln cap="flat" cmpd="sng" w="9525">
              <a:solidFill>
                <a:srgbClr val="1E2E4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2" name="Google Shape;262;p14"/>
            <p:cNvSpPr/>
            <p:nvPr/>
          </p:nvSpPr>
          <p:spPr>
            <a:xfrm>
              <a:off x="0" y="0"/>
              <a:ext cx="38100" cy="1381200"/>
            </a:xfrm>
            <a:prstGeom prst="roundRect">
              <a:avLst>
                <a:gd fmla="val 50000" name="adj"/>
              </a:avLst>
            </a:prstGeom>
            <a:solidFill>
              <a:srgbClr val="8B7CF0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3" name="Google Shape;263;p14"/>
            <p:cNvSpPr txBox="1"/>
            <p:nvPr/>
          </p:nvSpPr>
          <p:spPr>
            <a:xfrm>
              <a:off x="190500" y="142875"/>
              <a:ext cx="3810000" cy="1095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000">
                  <a:solidFill>
                    <a:srgbClr val="8B7CF0"/>
                  </a:solidFill>
                  <a:latin typeface="Calibri"/>
                  <a:ea typeface="Calibri"/>
                  <a:cs typeface="Calibri"/>
                  <a:sym typeface="Calibri"/>
                </a:rPr>
                <a:t>03 · OUTPUT VERIFICATION</a:t>
              </a:r>
              <a:endParaRPr b="1" sz="1000">
                <a:solidFill>
                  <a:srgbClr val="8B7CF0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spcBef>
                  <a:spcPts val="225"/>
                </a:spcBef>
                <a:spcAft>
                  <a:spcPts val="0"/>
                </a:spcAft>
                <a:buNone/>
              </a:pPr>
              <a:r>
                <a:rPr b="1" lang="en-US" sz="1500">
                  <a:solidFill>
                    <a:srgbClr val="F2F6F9"/>
                  </a:solidFill>
                  <a:latin typeface="Cambria"/>
                  <a:ea typeface="Cambria"/>
                  <a:cs typeface="Cambria"/>
                  <a:sym typeface="Cambria"/>
                </a:rPr>
                <a:t>Verify Mappings</a:t>
              </a:r>
              <a:endParaRPr b="1" sz="1000">
                <a:solidFill>
                  <a:srgbClr val="8B7CF0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0" lang="en-US" sz="1100">
                  <a:solidFill>
                    <a:srgbClr val="8CA0B3"/>
                  </a:solidFill>
                  <a:latin typeface="Calibri"/>
                  <a:ea typeface="Calibri"/>
                  <a:cs typeface="Calibri"/>
                  <a:sym typeface="Calibri"/>
                </a:rPr>
                <a:t>Use this to independently verify a mapping the engine gave you — the Instruction Manual's “output verification” rule, in practice.</a:t>
              </a:r>
              <a:endParaRPr b="1" sz="1000">
                <a:solidFill>
                  <a:srgbClr val="8B7CF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64" name="Google Shape;264;p14"/>
          <p:cNvSpPr/>
          <p:nvPr/>
        </p:nvSpPr>
        <p:spPr>
          <a:xfrm>
            <a:off x="502920" y="6519672"/>
            <a:ext cx="64008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850">
                <a:solidFill>
                  <a:srgbClr val="5C7086"/>
                </a:solidFill>
                <a:latin typeface="Calibri"/>
                <a:ea typeface="Calibri"/>
                <a:cs typeface="Calibri"/>
                <a:sym typeface="Calibri"/>
              </a:rPr>
              <a:t>DECLARATION ASSISTANT — YOUR PAYMENT ASSISTANT</a:t>
            </a:r>
            <a:endParaRPr sz="850">
              <a:solidFill>
                <a:srgbClr val="5C708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14"/>
          <p:cNvSpPr/>
          <p:nvPr/>
        </p:nvSpPr>
        <p:spPr>
          <a:xfrm>
            <a:off x="11521440" y="6519672"/>
            <a:ext cx="457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C7086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5C7086"/>
                </a:solidFill>
                <a:latin typeface="Calibri"/>
                <a:ea typeface="Calibri"/>
                <a:cs typeface="Calibri"/>
                <a:sym typeface="Calibri"/>
              </a:rPr>
              <a:t>11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1420"/>
        </a:solidFill>
      </p:bgPr>
    </p:bg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15"/>
          <p:cNvSpPr/>
          <p:nvPr/>
        </p:nvSpPr>
        <p:spPr>
          <a:xfrm>
            <a:off x="502920" y="475488"/>
            <a:ext cx="128100" cy="128100"/>
          </a:xfrm>
          <a:prstGeom prst="ellipse">
            <a:avLst/>
          </a:prstGeom>
          <a:solidFill>
            <a:srgbClr val="3DD68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2" name="Google Shape;272;p15"/>
          <p:cNvSpPr/>
          <p:nvPr/>
        </p:nvSpPr>
        <p:spPr>
          <a:xfrm>
            <a:off x="731520" y="365760"/>
            <a:ext cx="73152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DD68C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3DD68C"/>
                </a:solidFill>
                <a:latin typeface="Calibri"/>
                <a:ea typeface="Calibri"/>
                <a:cs typeface="Calibri"/>
                <a:sym typeface="Calibri"/>
              </a:rPr>
              <a:t>PART </a:t>
            </a:r>
            <a:r>
              <a:rPr b="1" lang="en-US" sz="1200">
                <a:solidFill>
                  <a:srgbClr val="3DD68C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r>
              <a:rPr b="1" i="0" lang="en-US" sz="1200" u="none" cap="none" strike="noStrike">
                <a:solidFill>
                  <a:srgbClr val="3DD68C"/>
                </a:solidFill>
                <a:latin typeface="Calibri"/>
                <a:ea typeface="Calibri"/>
                <a:cs typeface="Calibri"/>
                <a:sym typeface="Calibri"/>
              </a:rPr>
              <a:t> · YOUR HISTORY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15"/>
          <p:cNvSpPr/>
          <p:nvPr/>
        </p:nvSpPr>
        <p:spPr>
          <a:xfrm>
            <a:off x="502920" y="685800"/>
            <a:ext cx="78639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Clr>
                <a:srgbClr val="F2F6F9"/>
              </a:buClr>
              <a:buSzPts val="3200"/>
              <a:buFont typeface="Cambria"/>
              <a:buNone/>
            </a:pPr>
            <a:r>
              <a:rPr b="1" i="0" lang="en-US" sz="3200" u="none" cap="none" strike="noStrike">
                <a:solidFill>
                  <a:srgbClr val="F2F6F9"/>
                </a:solidFill>
                <a:latin typeface="Cambria"/>
                <a:ea typeface="Cambria"/>
                <a:cs typeface="Cambria"/>
                <a:sym typeface="Cambria"/>
              </a:rPr>
              <a:t>My Activity Journal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15"/>
          <p:cNvSpPr/>
          <p:nvPr/>
        </p:nvSpPr>
        <p:spPr>
          <a:xfrm>
            <a:off x="4956048" y="2235139"/>
            <a:ext cx="6775800" cy="3622200"/>
          </a:xfrm>
          <a:prstGeom prst="roundRect">
            <a:avLst>
              <a:gd fmla="val 2020" name="adj"/>
            </a:avLst>
          </a:prstGeom>
          <a:solidFill>
            <a:srgbClr val="111C2B"/>
          </a:solidFill>
          <a:ln cap="flat" cmpd="sng" w="12700">
            <a:solidFill>
              <a:srgbClr val="1E2E42"/>
            </a:solidFill>
            <a:prstDash val="solid"/>
            <a:round/>
            <a:headEnd len="sm" w="sm" type="none"/>
            <a:tailEnd len="sm" w="sm" type="none"/>
          </a:ln>
          <a:effectLst>
            <a:outerShdw blurRad="228600" rotWithShape="0" algn="bl" dir="5400000" dist="76200">
              <a:srgbClr val="000000">
                <a:alpha val="4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sessions/optimistic-gifted-hawking/mnt/outputs/pptbuild/images/10_activity_journal.png" id="275" name="Google Shape;275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074920" y="2354011"/>
            <a:ext cx="6537962" cy="3384416"/>
          </a:xfrm>
          <a:prstGeom prst="rect">
            <a:avLst/>
          </a:prstGeom>
          <a:noFill/>
          <a:ln>
            <a:noFill/>
          </a:ln>
        </p:spPr>
      </p:pic>
      <p:sp>
        <p:nvSpPr>
          <p:cNvPr id="276" name="Google Shape;276;p15"/>
          <p:cNvSpPr/>
          <p:nvPr/>
        </p:nvSpPr>
        <p:spPr>
          <a:xfrm>
            <a:off x="502920" y="6519672"/>
            <a:ext cx="64008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850">
                <a:solidFill>
                  <a:srgbClr val="5C7086"/>
                </a:solidFill>
                <a:latin typeface="Calibri"/>
                <a:ea typeface="Calibri"/>
                <a:cs typeface="Calibri"/>
                <a:sym typeface="Calibri"/>
              </a:rPr>
              <a:t>DECLARATION ASSISTANT — YOUR PAYMENT ASSISTANT</a:t>
            </a:r>
            <a:endParaRPr sz="850">
              <a:solidFill>
                <a:srgbClr val="5C708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15"/>
          <p:cNvSpPr/>
          <p:nvPr/>
        </p:nvSpPr>
        <p:spPr>
          <a:xfrm>
            <a:off x="11521440" y="6519672"/>
            <a:ext cx="457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C7086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5C7086"/>
                </a:solidFill>
                <a:latin typeface="Calibri"/>
                <a:ea typeface="Calibri"/>
                <a:cs typeface="Calibri"/>
                <a:sym typeface="Calibri"/>
              </a:rPr>
              <a:t>13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78" name="Google Shape;278;p15"/>
          <p:cNvGrpSpPr/>
          <p:nvPr/>
        </p:nvGrpSpPr>
        <p:grpSpPr>
          <a:xfrm>
            <a:off x="502920" y="1666875"/>
            <a:ext cx="4191000" cy="1000200"/>
            <a:chOff x="0" y="0"/>
            <a:chExt cx="4191000" cy="1000200"/>
          </a:xfrm>
        </p:grpSpPr>
        <p:sp>
          <p:nvSpPr>
            <p:cNvPr id="279" name="Google Shape;279;p15"/>
            <p:cNvSpPr/>
            <p:nvPr/>
          </p:nvSpPr>
          <p:spPr>
            <a:xfrm>
              <a:off x="0" y="0"/>
              <a:ext cx="4191000" cy="1000200"/>
            </a:xfrm>
            <a:prstGeom prst="roundRect">
              <a:avLst>
                <a:gd fmla="val 5714" name="adj"/>
              </a:avLst>
            </a:prstGeom>
            <a:solidFill>
              <a:srgbClr val="111C2B"/>
            </a:solidFill>
            <a:ln cap="flat" cmpd="sng" w="9525">
              <a:solidFill>
                <a:srgbClr val="1E2E4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0" name="Google Shape;280;p15"/>
            <p:cNvSpPr/>
            <p:nvPr/>
          </p:nvSpPr>
          <p:spPr>
            <a:xfrm>
              <a:off x="0" y="0"/>
              <a:ext cx="33300" cy="1000200"/>
            </a:xfrm>
            <a:prstGeom prst="roundRect">
              <a:avLst>
                <a:gd fmla="val 42857" name="adj"/>
              </a:avLst>
            </a:prstGeom>
            <a:solidFill>
              <a:srgbClr val="3DD68C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1" name="Google Shape;281;p15"/>
            <p:cNvSpPr txBox="1"/>
            <p:nvPr/>
          </p:nvSpPr>
          <p:spPr>
            <a:xfrm>
              <a:off x="171450" y="76200"/>
              <a:ext cx="3857700" cy="847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900">
                  <a:solidFill>
                    <a:srgbClr val="3DD68C"/>
                  </a:solidFill>
                  <a:latin typeface="Calibri"/>
                  <a:ea typeface="Calibri"/>
                  <a:cs typeface="Calibri"/>
                  <a:sym typeface="Calibri"/>
                </a:rPr>
                <a:t>01 · AUTOMATIC LOGGING</a:t>
              </a:r>
              <a:endParaRPr b="1" sz="900">
                <a:solidFill>
                  <a:srgbClr val="3DD68C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b="1" lang="en-US" sz="1350">
                  <a:solidFill>
                    <a:srgbClr val="F2F6F9"/>
                  </a:solidFill>
                  <a:latin typeface="Cambria"/>
                  <a:ea typeface="Cambria"/>
                  <a:cs typeface="Cambria"/>
                  <a:sym typeface="Cambria"/>
                </a:rPr>
                <a:t>Every Lookup Logged</a:t>
              </a:r>
              <a:endParaRPr b="1" sz="1350">
                <a:solidFill>
                  <a:srgbClr val="F2F6F9"/>
                </a:solidFill>
                <a:latin typeface="Cambria"/>
                <a:ea typeface="Cambria"/>
                <a:cs typeface="Cambria"/>
                <a:sym typeface="Cambria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-US" sz="1050">
                  <a:solidFill>
                    <a:srgbClr val="8CA0B3"/>
                  </a:solidFill>
                  <a:latin typeface="Calibri"/>
                  <a:ea typeface="Calibri"/>
                  <a:cs typeface="Calibri"/>
                  <a:sym typeface="Calibri"/>
                </a:rPr>
                <a:t>Condition, plan, timestamp, and match outcome are stored automatically.</a:t>
              </a:r>
              <a:endParaRPr b="0" sz="1050">
                <a:solidFill>
                  <a:srgbClr val="8CA0B3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82" name="Google Shape;282;p15"/>
          <p:cNvGrpSpPr/>
          <p:nvPr/>
        </p:nvGrpSpPr>
        <p:grpSpPr>
          <a:xfrm>
            <a:off x="502920" y="2781300"/>
            <a:ext cx="4191000" cy="1000200"/>
            <a:chOff x="0" y="0"/>
            <a:chExt cx="4191000" cy="1000200"/>
          </a:xfrm>
        </p:grpSpPr>
        <p:sp>
          <p:nvSpPr>
            <p:cNvPr id="283" name="Google Shape;283;p15"/>
            <p:cNvSpPr/>
            <p:nvPr/>
          </p:nvSpPr>
          <p:spPr>
            <a:xfrm>
              <a:off x="0" y="0"/>
              <a:ext cx="4191000" cy="1000200"/>
            </a:xfrm>
            <a:prstGeom prst="roundRect">
              <a:avLst>
                <a:gd fmla="val 5714" name="adj"/>
              </a:avLst>
            </a:prstGeom>
            <a:solidFill>
              <a:srgbClr val="111C2B"/>
            </a:solidFill>
            <a:ln cap="flat" cmpd="sng" w="9525">
              <a:solidFill>
                <a:srgbClr val="1E2E4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4" name="Google Shape;284;p15"/>
            <p:cNvSpPr/>
            <p:nvPr/>
          </p:nvSpPr>
          <p:spPr>
            <a:xfrm>
              <a:off x="0" y="0"/>
              <a:ext cx="33300" cy="1000200"/>
            </a:xfrm>
            <a:prstGeom prst="roundRect">
              <a:avLst>
                <a:gd fmla="val 42857" name="adj"/>
              </a:avLst>
            </a:prstGeom>
            <a:solidFill>
              <a:srgbClr val="3DD68C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5" name="Google Shape;285;p15"/>
            <p:cNvSpPr txBox="1"/>
            <p:nvPr/>
          </p:nvSpPr>
          <p:spPr>
            <a:xfrm>
              <a:off x="171450" y="76200"/>
              <a:ext cx="3857700" cy="847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900">
                  <a:solidFill>
                    <a:srgbClr val="3DD68C"/>
                  </a:solidFill>
                  <a:latin typeface="Calibri"/>
                  <a:ea typeface="Calibri"/>
                  <a:cs typeface="Calibri"/>
                  <a:sym typeface="Calibri"/>
                </a:rPr>
                <a:t>02 · SESSION SUMMARY</a:t>
              </a:r>
              <a:endParaRPr b="1" sz="900">
                <a:solidFill>
                  <a:srgbClr val="3DD68C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b="1" lang="en-US" sz="1350">
                  <a:solidFill>
                    <a:srgbClr val="F2F6F9"/>
                  </a:solidFill>
                  <a:latin typeface="Cambria"/>
                  <a:ea typeface="Cambria"/>
                  <a:cs typeface="Cambria"/>
                  <a:sym typeface="Cambria"/>
                </a:rPr>
                <a:t>At-a-Glance Counters</a:t>
              </a:r>
              <a:endParaRPr b="1" sz="1350">
                <a:solidFill>
                  <a:srgbClr val="F2F6F9"/>
                </a:solidFill>
                <a:latin typeface="Cambria"/>
                <a:ea typeface="Cambria"/>
                <a:cs typeface="Cambria"/>
                <a:sym typeface="Cambria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-US" sz="1050">
                  <a:solidFill>
                    <a:srgbClr val="8CA0B3"/>
                  </a:solidFill>
                  <a:latin typeface="Calibri"/>
                  <a:ea typeface="Calibri"/>
                  <a:cs typeface="Calibri"/>
                  <a:sym typeface="Calibri"/>
                </a:rPr>
                <a:t>Total Lookups and Filtered Matches counters provide quick session summaries.</a:t>
              </a:r>
              <a:endParaRPr b="0" sz="1050">
                <a:solidFill>
                  <a:srgbClr val="8CA0B3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86" name="Google Shape;286;p15"/>
          <p:cNvGrpSpPr/>
          <p:nvPr/>
        </p:nvGrpSpPr>
        <p:grpSpPr>
          <a:xfrm>
            <a:off x="502920" y="3895725"/>
            <a:ext cx="4191000" cy="1000200"/>
            <a:chOff x="0" y="0"/>
            <a:chExt cx="4191000" cy="1000200"/>
          </a:xfrm>
        </p:grpSpPr>
        <p:sp>
          <p:nvSpPr>
            <p:cNvPr id="287" name="Google Shape;287;p15"/>
            <p:cNvSpPr/>
            <p:nvPr/>
          </p:nvSpPr>
          <p:spPr>
            <a:xfrm>
              <a:off x="0" y="0"/>
              <a:ext cx="4191000" cy="1000200"/>
            </a:xfrm>
            <a:prstGeom prst="roundRect">
              <a:avLst>
                <a:gd fmla="val 5714" name="adj"/>
              </a:avLst>
            </a:prstGeom>
            <a:solidFill>
              <a:srgbClr val="111C2B"/>
            </a:solidFill>
            <a:ln cap="flat" cmpd="sng" w="9525">
              <a:solidFill>
                <a:srgbClr val="1E2E4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8" name="Google Shape;288;p15"/>
            <p:cNvSpPr/>
            <p:nvPr/>
          </p:nvSpPr>
          <p:spPr>
            <a:xfrm>
              <a:off x="0" y="0"/>
              <a:ext cx="33300" cy="1000200"/>
            </a:xfrm>
            <a:prstGeom prst="roundRect">
              <a:avLst>
                <a:gd fmla="val 42857" name="adj"/>
              </a:avLst>
            </a:prstGeom>
            <a:solidFill>
              <a:srgbClr val="3DD68C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9" name="Google Shape;289;p15"/>
            <p:cNvSpPr txBox="1"/>
            <p:nvPr/>
          </p:nvSpPr>
          <p:spPr>
            <a:xfrm>
              <a:off x="171450" y="76200"/>
              <a:ext cx="3857700" cy="847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900">
                  <a:solidFill>
                    <a:srgbClr val="3DD68C"/>
                  </a:solidFill>
                  <a:latin typeface="Calibri"/>
                  <a:ea typeface="Calibri"/>
                  <a:cs typeface="Calibri"/>
                  <a:sym typeface="Calibri"/>
                </a:rPr>
                <a:t>03 · FILTER &amp; SEARCH</a:t>
              </a:r>
              <a:endParaRPr b="1" sz="900">
                <a:solidFill>
                  <a:srgbClr val="3DD68C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b="1" lang="en-US" sz="1350">
                  <a:solidFill>
                    <a:srgbClr val="F2F6F9"/>
                  </a:solidFill>
                  <a:latin typeface="Cambria"/>
                  <a:ea typeface="Cambria"/>
                  <a:cs typeface="Cambria"/>
                  <a:sym typeface="Cambria"/>
                </a:rPr>
                <a:t>Quick Log Search</a:t>
              </a:r>
              <a:endParaRPr b="1" sz="1350">
                <a:solidFill>
                  <a:srgbClr val="F2F6F9"/>
                </a:solidFill>
                <a:latin typeface="Cambria"/>
                <a:ea typeface="Cambria"/>
                <a:cs typeface="Cambria"/>
                <a:sym typeface="Cambria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-US" sz="1050">
                  <a:solidFill>
                    <a:srgbClr val="8CA0B3"/>
                  </a:solidFill>
                  <a:latin typeface="Calibri"/>
                  <a:ea typeface="Calibri"/>
                  <a:cs typeface="Calibri"/>
                  <a:sym typeface="Calibri"/>
                </a:rPr>
                <a:t>Filter by plan or date range, or search logs directly to revisit past cases.</a:t>
              </a:r>
              <a:endParaRPr b="0" sz="1050">
                <a:solidFill>
                  <a:srgbClr val="8CA0B3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90" name="Google Shape;290;p15"/>
          <p:cNvGrpSpPr/>
          <p:nvPr/>
        </p:nvGrpSpPr>
        <p:grpSpPr>
          <a:xfrm>
            <a:off x="502920" y="5010150"/>
            <a:ext cx="4191000" cy="1000200"/>
            <a:chOff x="0" y="0"/>
            <a:chExt cx="4191000" cy="1000200"/>
          </a:xfrm>
        </p:grpSpPr>
        <p:sp>
          <p:nvSpPr>
            <p:cNvPr id="291" name="Google Shape;291;p15"/>
            <p:cNvSpPr/>
            <p:nvPr/>
          </p:nvSpPr>
          <p:spPr>
            <a:xfrm>
              <a:off x="0" y="0"/>
              <a:ext cx="4191000" cy="1000200"/>
            </a:xfrm>
            <a:prstGeom prst="roundRect">
              <a:avLst>
                <a:gd fmla="val 5714" name="adj"/>
              </a:avLst>
            </a:prstGeom>
            <a:solidFill>
              <a:srgbClr val="111C2B"/>
            </a:solidFill>
            <a:ln cap="flat" cmpd="sng" w="9525">
              <a:solidFill>
                <a:srgbClr val="1E2E4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2" name="Google Shape;292;p15"/>
            <p:cNvSpPr/>
            <p:nvPr/>
          </p:nvSpPr>
          <p:spPr>
            <a:xfrm>
              <a:off x="0" y="0"/>
              <a:ext cx="33300" cy="1000200"/>
            </a:xfrm>
            <a:prstGeom prst="roundRect">
              <a:avLst>
                <a:gd fmla="val 42857" name="adj"/>
              </a:avLst>
            </a:prstGeom>
            <a:solidFill>
              <a:srgbClr val="3DD68C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3" name="Google Shape;293;p15"/>
            <p:cNvSpPr txBox="1"/>
            <p:nvPr/>
          </p:nvSpPr>
          <p:spPr>
            <a:xfrm>
              <a:off x="171450" y="76200"/>
              <a:ext cx="3857700" cy="847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900">
                  <a:solidFill>
                    <a:srgbClr val="3DD68C"/>
                  </a:solidFill>
                  <a:latin typeface="Calibri"/>
                  <a:ea typeface="Calibri"/>
                  <a:cs typeface="Calibri"/>
                  <a:sym typeface="Calibri"/>
                </a:rPr>
                <a:t>04 · DETAILED AUDITS</a:t>
              </a:r>
              <a:endParaRPr b="1" sz="900">
                <a:solidFill>
                  <a:srgbClr val="3DD68C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b="1" lang="en-US" sz="1350">
                  <a:solidFill>
                    <a:srgbClr val="F2F6F9"/>
                  </a:solidFill>
                  <a:latin typeface="Cambria"/>
                  <a:ea typeface="Cambria"/>
                  <a:cs typeface="Cambria"/>
                  <a:sym typeface="Cambria"/>
                </a:rPr>
                <a:t>View Full Mapping</a:t>
              </a:r>
              <a:endParaRPr b="1" sz="1350">
                <a:solidFill>
                  <a:srgbClr val="F2F6F9"/>
                </a:solidFill>
                <a:latin typeface="Cambria"/>
                <a:ea typeface="Cambria"/>
                <a:cs typeface="Cambria"/>
                <a:sym typeface="Cambria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-US" sz="1050">
                  <a:solidFill>
                    <a:srgbClr val="8CA0B3"/>
                  </a:solidFill>
                  <a:latin typeface="Calibri"/>
                  <a:ea typeface="Calibri"/>
                  <a:cs typeface="Calibri"/>
                  <a:sym typeface="Calibri"/>
                </a:rPr>
                <a:t>Reopen full mapping results for any lookup row — highly useful for self-audits.</a:t>
              </a:r>
              <a:endParaRPr b="0" sz="1050">
                <a:solidFill>
                  <a:srgbClr val="8CA0B3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1420"/>
        </a:solidFill>
      </p:bgPr>
    </p:bg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16"/>
          <p:cNvSpPr/>
          <p:nvPr/>
        </p:nvSpPr>
        <p:spPr>
          <a:xfrm>
            <a:off x="502920" y="475488"/>
            <a:ext cx="128100" cy="128100"/>
          </a:xfrm>
          <a:prstGeom prst="ellipse">
            <a:avLst/>
          </a:prstGeom>
          <a:solidFill>
            <a:srgbClr val="00D3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0" name="Google Shape;300;p16"/>
          <p:cNvSpPr/>
          <p:nvPr/>
        </p:nvSpPr>
        <p:spPr>
          <a:xfrm>
            <a:off x="731520" y="365760"/>
            <a:ext cx="73152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D3F3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0D3F3"/>
                </a:solidFill>
                <a:latin typeface="Calibri"/>
                <a:ea typeface="Calibri"/>
                <a:cs typeface="Calibri"/>
                <a:sym typeface="Calibri"/>
              </a:rPr>
              <a:t>PART </a:t>
            </a:r>
            <a:r>
              <a:rPr b="1" lang="en-US" sz="1200">
                <a:solidFill>
                  <a:srgbClr val="00D3F3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r>
              <a:rPr b="1" i="0" lang="en-US" sz="1200" u="none" cap="none" strike="noStrike">
                <a:solidFill>
                  <a:srgbClr val="00D3F3"/>
                </a:solidFill>
                <a:latin typeface="Calibri"/>
                <a:ea typeface="Calibri"/>
                <a:cs typeface="Calibri"/>
                <a:sym typeface="Calibri"/>
              </a:rPr>
              <a:t> · ALWAYS-ON RESOURCES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16"/>
          <p:cNvSpPr/>
          <p:nvPr/>
        </p:nvSpPr>
        <p:spPr>
          <a:xfrm>
            <a:off x="502920" y="685800"/>
            <a:ext cx="78639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Clr>
                <a:srgbClr val="F2F6F9"/>
              </a:buClr>
              <a:buSzPts val="3200"/>
              <a:buFont typeface="Cambria"/>
              <a:buNone/>
            </a:pPr>
            <a:r>
              <a:rPr b="1" i="0" lang="en-US" sz="3200" u="none" cap="none" strike="noStrike">
                <a:solidFill>
                  <a:srgbClr val="F2F6F9"/>
                </a:solidFill>
                <a:latin typeface="Cambria"/>
                <a:ea typeface="Cambria"/>
                <a:cs typeface="Cambria"/>
                <a:sym typeface="Cambria"/>
              </a:rPr>
              <a:t>Quick Access Drawer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16"/>
          <p:cNvSpPr/>
          <p:nvPr/>
        </p:nvSpPr>
        <p:spPr>
          <a:xfrm>
            <a:off x="4956048" y="1905000"/>
            <a:ext cx="6775800" cy="3622200"/>
          </a:xfrm>
          <a:prstGeom prst="roundRect">
            <a:avLst>
              <a:gd fmla="val 2020" name="adj"/>
            </a:avLst>
          </a:prstGeom>
          <a:solidFill>
            <a:srgbClr val="111C2B"/>
          </a:solidFill>
          <a:ln cap="flat" cmpd="sng" w="12700">
            <a:solidFill>
              <a:srgbClr val="1E2E42"/>
            </a:solidFill>
            <a:prstDash val="solid"/>
            <a:round/>
            <a:headEnd len="sm" w="sm" type="none"/>
            <a:tailEnd len="sm" w="sm" type="none"/>
          </a:ln>
          <a:effectLst>
            <a:outerShdw blurRad="228600" rotWithShape="0" algn="bl" dir="5400000" dist="76200">
              <a:srgbClr val="000000">
                <a:alpha val="45098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03" name="Google Shape;303;p16"/>
          <p:cNvPicPr preferRelativeResize="0"/>
          <p:nvPr/>
        </p:nvPicPr>
        <p:blipFill rotWithShape="1">
          <a:blip r:embed="rId3">
            <a:alphaModFix/>
          </a:blip>
          <a:srcRect b="0" l="10" r="0" t="0"/>
          <a:stretch/>
        </p:blipFill>
        <p:spPr>
          <a:xfrm>
            <a:off x="5074920" y="2023872"/>
            <a:ext cx="6537900" cy="3384300"/>
          </a:xfrm>
          <a:prstGeom prst="rect">
            <a:avLst/>
          </a:prstGeom>
          <a:noFill/>
          <a:ln>
            <a:noFill/>
          </a:ln>
        </p:spPr>
      </p:pic>
      <p:sp>
        <p:nvSpPr>
          <p:cNvPr id="304" name="Google Shape;304;p16"/>
          <p:cNvSpPr/>
          <p:nvPr/>
        </p:nvSpPr>
        <p:spPr>
          <a:xfrm>
            <a:off x="502920" y="6519672"/>
            <a:ext cx="64008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850">
                <a:solidFill>
                  <a:srgbClr val="5C7086"/>
                </a:solidFill>
                <a:latin typeface="Calibri"/>
                <a:ea typeface="Calibri"/>
                <a:cs typeface="Calibri"/>
                <a:sym typeface="Calibri"/>
              </a:rPr>
              <a:t>DECLARATION ASSISTANT — YOUR PAYMENT ASSISTANT</a:t>
            </a:r>
            <a:endParaRPr sz="850">
              <a:solidFill>
                <a:srgbClr val="5C708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16"/>
          <p:cNvSpPr/>
          <p:nvPr/>
        </p:nvSpPr>
        <p:spPr>
          <a:xfrm>
            <a:off x="11521440" y="6519672"/>
            <a:ext cx="457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C7086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5C7086"/>
                </a:solidFill>
                <a:latin typeface="Calibri"/>
                <a:ea typeface="Calibri"/>
                <a:cs typeface="Calibri"/>
                <a:sym typeface="Calibri"/>
              </a:rPr>
              <a:t>14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06" name="Google Shape;306;p16"/>
          <p:cNvGrpSpPr/>
          <p:nvPr/>
        </p:nvGrpSpPr>
        <p:grpSpPr>
          <a:xfrm>
            <a:off x="502920" y="1905000"/>
            <a:ext cx="4191000" cy="3619500"/>
            <a:chOff x="0" y="0"/>
            <a:chExt cx="4191000" cy="3619500"/>
          </a:xfrm>
        </p:grpSpPr>
        <p:sp>
          <p:nvSpPr>
            <p:cNvPr id="307" name="Google Shape;307;p16"/>
            <p:cNvSpPr/>
            <p:nvPr/>
          </p:nvSpPr>
          <p:spPr>
            <a:xfrm>
              <a:off x="0" y="0"/>
              <a:ext cx="4191000" cy="3619500"/>
            </a:xfrm>
            <a:prstGeom prst="roundRect">
              <a:avLst>
                <a:gd fmla="val 2104" name="adj"/>
              </a:avLst>
            </a:prstGeom>
            <a:solidFill>
              <a:srgbClr val="111C2B"/>
            </a:solidFill>
            <a:ln cap="flat" cmpd="sng" w="9525">
              <a:solidFill>
                <a:srgbClr val="1E2E4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8" name="Google Shape;308;p16"/>
            <p:cNvSpPr/>
            <p:nvPr/>
          </p:nvSpPr>
          <p:spPr>
            <a:xfrm>
              <a:off x="0" y="0"/>
              <a:ext cx="38100" cy="3619500"/>
            </a:xfrm>
            <a:prstGeom prst="roundRect">
              <a:avLst>
                <a:gd fmla="val 50000" name="adj"/>
              </a:avLst>
            </a:prstGeom>
            <a:solidFill>
              <a:srgbClr val="00D3F3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9" name="Google Shape;309;p16"/>
            <p:cNvSpPr txBox="1"/>
            <p:nvPr/>
          </p:nvSpPr>
          <p:spPr>
            <a:xfrm>
              <a:off x="228600" y="228600"/>
              <a:ext cx="3733800" cy="31623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000">
                  <a:solidFill>
                    <a:srgbClr val="00D3F3"/>
                  </a:solidFill>
                  <a:latin typeface="Calibri"/>
                  <a:ea typeface="Calibri"/>
                  <a:cs typeface="Calibri"/>
                  <a:sym typeface="Calibri"/>
                </a:rPr>
                <a:t>01 · QUICK ACCESS</a:t>
              </a:r>
              <a:endParaRPr b="1" sz="1000">
                <a:solidFill>
                  <a:srgbClr val="00D3F3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1" lang="en-US" sz="2000">
                  <a:solidFill>
                    <a:srgbClr val="F2F6F9"/>
                  </a:solidFill>
                  <a:latin typeface="Cambria"/>
                  <a:ea typeface="Cambria"/>
                  <a:cs typeface="Cambria"/>
                  <a:sym typeface="Cambria"/>
                </a:rPr>
                <a:t>Reference Documents</a:t>
              </a:r>
              <a:endParaRPr b="1" sz="2000">
                <a:solidFill>
                  <a:srgbClr val="F2F6F9"/>
                </a:solidFill>
                <a:latin typeface="Cambria"/>
                <a:ea typeface="Cambria"/>
                <a:cs typeface="Cambria"/>
                <a:sym typeface="Cambria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0" lang="en-US" sz="1150">
                  <a:solidFill>
                    <a:srgbClr val="A0B2C6"/>
                  </a:solidFill>
                  <a:latin typeface="Calibri"/>
                  <a:ea typeface="Calibri"/>
                  <a:cs typeface="Calibri"/>
                  <a:sym typeface="Calibri"/>
                </a:rPr>
                <a:t>One-click access to critical guidelines, tools, and visual materials directly:</a:t>
              </a:r>
              <a:endParaRPr b="0" sz="1150">
                <a:solidFill>
                  <a:srgbClr val="A0B2C6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spcBef>
                  <a:spcPts val="1800"/>
                </a:spcBef>
                <a:spcAft>
                  <a:spcPts val="0"/>
                </a:spcAft>
                <a:buNone/>
              </a:pPr>
              <a:r>
                <a:rPr b="1" lang="en-US" sz="1200">
                  <a:solidFill>
                    <a:srgbClr val="00D3F3"/>
                  </a:solidFill>
                  <a:latin typeface="Calibri"/>
                  <a:ea typeface="Calibri"/>
                  <a:cs typeface="Calibri"/>
                  <a:sym typeface="Calibri"/>
                </a:rPr>
                <a:t>✦</a:t>
              </a:r>
              <a:r>
                <a:rPr b="1" lang="en-US" sz="1200">
                  <a:solidFill>
                    <a:srgbClr val="F2F6F9"/>
                  </a:solidFill>
                  <a:latin typeface="Cambria"/>
                  <a:ea typeface="Cambria"/>
                  <a:cs typeface="Cambria"/>
                  <a:sym typeface="Cambria"/>
                </a:rPr>
                <a:t>QA Dashboard</a:t>
              </a:r>
              <a:r>
                <a:rPr lang="en-US" sz="1200">
                  <a:solidFill>
                    <a:srgbClr val="8CA0B3"/>
                  </a:solidFill>
                  <a:latin typeface="Calibri"/>
                  <a:ea typeface="Calibri"/>
                  <a:cs typeface="Calibri"/>
                  <a:sym typeface="Calibri"/>
                </a:rPr>
                <a:t> — Real-time performance metrics</a:t>
              </a:r>
              <a:endParaRPr sz="1200">
                <a:solidFill>
                  <a:srgbClr val="8CA0B3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spcBef>
                  <a:spcPts val="1050"/>
                </a:spcBef>
                <a:spcAft>
                  <a:spcPts val="0"/>
                </a:spcAft>
                <a:buNone/>
              </a:pPr>
              <a:r>
                <a:rPr b="1" lang="en-US" sz="1200">
                  <a:solidFill>
                    <a:srgbClr val="00D3F3"/>
                  </a:solidFill>
                  <a:latin typeface="Calibri"/>
                  <a:ea typeface="Calibri"/>
                  <a:cs typeface="Calibri"/>
                  <a:sym typeface="Calibri"/>
                </a:rPr>
                <a:t>✦</a:t>
              </a:r>
              <a:r>
                <a:rPr b="1" lang="en-US" sz="1200">
                  <a:solidFill>
                    <a:srgbClr val="F2F6F9"/>
                  </a:solidFill>
                  <a:latin typeface="Cambria"/>
                  <a:ea typeface="Cambria"/>
                  <a:cs typeface="Cambria"/>
                  <a:sym typeface="Cambria"/>
                </a:rPr>
                <a:t>SOPs &amp; Guides</a:t>
              </a:r>
              <a:r>
                <a:rPr lang="en-US" sz="1200">
                  <a:solidFill>
                    <a:srgbClr val="8CA0B3"/>
                  </a:solidFill>
                  <a:latin typeface="Calibri"/>
                  <a:ea typeface="Calibri"/>
                  <a:cs typeface="Calibri"/>
                  <a:sym typeface="Calibri"/>
                </a:rPr>
                <a:t> — Operating procedures</a:t>
              </a:r>
              <a:endParaRPr sz="1200">
                <a:solidFill>
                  <a:srgbClr val="8CA0B3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spcBef>
                  <a:spcPts val="1050"/>
                </a:spcBef>
                <a:spcAft>
                  <a:spcPts val="0"/>
                </a:spcAft>
                <a:buNone/>
              </a:pPr>
              <a:r>
                <a:rPr b="1" lang="en-US" sz="1200">
                  <a:solidFill>
                    <a:srgbClr val="00D3F3"/>
                  </a:solidFill>
                  <a:latin typeface="Calibri"/>
                  <a:ea typeface="Calibri"/>
                  <a:cs typeface="Calibri"/>
                  <a:sym typeface="Calibri"/>
                </a:rPr>
                <a:t>✦</a:t>
              </a:r>
              <a:r>
                <a:rPr b="1" lang="en-US" sz="1200">
                  <a:solidFill>
                    <a:srgbClr val="F2F6F9"/>
                  </a:solidFill>
                  <a:latin typeface="Cambria"/>
                  <a:ea typeface="Cambria"/>
                  <a:cs typeface="Cambria"/>
                  <a:sym typeface="Cambria"/>
                </a:rPr>
                <a:t>Playbook &amp; Updates</a:t>
              </a:r>
              <a:r>
                <a:rPr lang="en-US" sz="1200">
                  <a:solidFill>
                    <a:srgbClr val="8CA0B3"/>
                  </a:solidFill>
                  <a:latin typeface="Calibri"/>
                  <a:ea typeface="Calibri"/>
                  <a:cs typeface="Calibri"/>
                  <a:sym typeface="Calibri"/>
                </a:rPr>
                <a:t> </a:t>
              </a:r>
              <a:r>
                <a:rPr lang="en-US" sz="1200">
                  <a:solidFill>
                    <a:srgbClr val="8CA0B3"/>
                  </a:solidFill>
                  <a:latin typeface="Calibri"/>
                  <a:ea typeface="Calibri"/>
                  <a:cs typeface="Calibri"/>
                  <a:sym typeface="Calibri"/>
                </a:rPr>
                <a:t>— Product and Process Rule Books</a:t>
              </a:r>
              <a:endParaRPr sz="1200">
                <a:solidFill>
                  <a:srgbClr val="8CA0B3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spcBef>
                  <a:spcPts val="1050"/>
                </a:spcBef>
                <a:spcAft>
                  <a:spcPts val="0"/>
                </a:spcAft>
                <a:buNone/>
              </a:pPr>
              <a:r>
                <a:rPr b="1" lang="en-US" sz="1200">
                  <a:solidFill>
                    <a:srgbClr val="00D3F3"/>
                  </a:solidFill>
                  <a:latin typeface="Calibri"/>
                  <a:ea typeface="Calibri"/>
                  <a:cs typeface="Calibri"/>
                  <a:sym typeface="Calibri"/>
                </a:rPr>
                <a:t>✦</a:t>
              </a:r>
              <a:r>
                <a:rPr b="1" lang="en-US" sz="1200">
                  <a:solidFill>
                    <a:srgbClr val="F2F6F9"/>
                  </a:solidFill>
                  <a:latin typeface="Cambria"/>
                  <a:ea typeface="Cambria"/>
                  <a:cs typeface="Cambria"/>
                  <a:sym typeface="Cambria"/>
                </a:rPr>
                <a:t>Other Resources </a:t>
              </a:r>
              <a:r>
                <a:rPr b="1" lang="en-US" sz="1200">
                  <a:solidFill>
                    <a:srgbClr val="F2F6F9"/>
                  </a:solidFill>
                  <a:latin typeface="Cambria"/>
                  <a:ea typeface="Cambria"/>
                  <a:cs typeface="Cambria"/>
                  <a:sym typeface="Cambria"/>
                </a:rPr>
                <a:t>&amp; Links</a:t>
              </a:r>
              <a:r>
                <a:rPr lang="en-US" sz="1200">
                  <a:solidFill>
                    <a:srgbClr val="8CA0B3"/>
                  </a:solidFill>
                  <a:latin typeface="Calibri"/>
                  <a:ea typeface="Calibri"/>
                  <a:cs typeface="Calibri"/>
                  <a:sym typeface="Calibri"/>
                </a:rPr>
                <a:t> — Essential external shortcuts</a:t>
              </a:r>
              <a:endParaRPr sz="1200">
                <a:solidFill>
                  <a:srgbClr val="8CA0B3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1420"/>
        </a:solidFill>
      </p:bgPr>
    </p:bg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17"/>
          <p:cNvSpPr/>
          <p:nvPr/>
        </p:nvSpPr>
        <p:spPr>
          <a:xfrm>
            <a:off x="502920" y="475488"/>
            <a:ext cx="128016" cy="128016"/>
          </a:xfrm>
          <a:prstGeom prst="ellipse">
            <a:avLst/>
          </a:prstGeom>
          <a:solidFill>
            <a:srgbClr val="00D3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6" name="Google Shape;316;p17"/>
          <p:cNvSpPr/>
          <p:nvPr/>
        </p:nvSpPr>
        <p:spPr>
          <a:xfrm>
            <a:off x="731520" y="365760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D3F3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0D3F3"/>
                </a:solidFill>
                <a:latin typeface="Calibri"/>
                <a:ea typeface="Calibri"/>
                <a:cs typeface="Calibri"/>
                <a:sym typeface="Calibri"/>
              </a:rPr>
              <a:t>BEFORE YOU GO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" name="Google Shape;317;p17"/>
          <p:cNvSpPr/>
          <p:nvPr/>
        </p:nvSpPr>
        <p:spPr>
          <a:xfrm>
            <a:off x="502920" y="685800"/>
            <a:ext cx="10058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Clr>
                <a:srgbClr val="F2F6F9"/>
              </a:buClr>
              <a:buSzPts val="3200"/>
              <a:buFont typeface="Cambria"/>
              <a:buNone/>
            </a:pPr>
            <a:r>
              <a:rPr b="1" i="0" lang="en-US" sz="3200" u="none" cap="none" strike="noStrike">
                <a:solidFill>
                  <a:srgbClr val="F2F6F9"/>
                </a:solidFill>
                <a:latin typeface="Cambria"/>
                <a:ea typeface="Cambria"/>
                <a:cs typeface="Cambria"/>
                <a:sym typeface="Cambria"/>
              </a:rPr>
              <a:t>Remember This Before You Declare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p17"/>
          <p:cNvSpPr/>
          <p:nvPr/>
        </p:nvSpPr>
        <p:spPr>
          <a:xfrm>
            <a:off x="502920" y="1828800"/>
            <a:ext cx="5349240" cy="1280160"/>
          </a:xfrm>
          <a:prstGeom prst="roundRect">
            <a:avLst>
              <a:gd fmla="val 6429" name="adj"/>
            </a:avLst>
          </a:prstGeom>
          <a:solidFill>
            <a:srgbClr val="111C2B"/>
          </a:solidFill>
          <a:ln cap="flat" cmpd="sng" w="12700">
            <a:solidFill>
              <a:srgbClr val="1E2E4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9" name="Google Shape;319;p17"/>
          <p:cNvSpPr/>
          <p:nvPr/>
        </p:nvSpPr>
        <p:spPr>
          <a:xfrm>
            <a:off x="731520" y="2057400"/>
            <a:ext cx="384048" cy="384048"/>
          </a:xfrm>
          <a:prstGeom prst="ellipse">
            <a:avLst/>
          </a:prstGeom>
          <a:solidFill>
            <a:srgbClr val="111C2B"/>
          </a:solidFill>
          <a:ln cap="flat" cmpd="sng" w="19050">
            <a:solidFill>
              <a:srgbClr val="00D3F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0" name="Google Shape;320;p17"/>
          <p:cNvSpPr/>
          <p:nvPr/>
        </p:nvSpPr>
        <p:spPr>
          <a:xfrm>
            <a:off x="731520" y="2048256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D3F3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00D3F3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p17"/>
          <p:cNvSpPr/>
          <p:nvPr/>
        </p:nvSpPr>
        <p:spPr>
          <a:xfrm>
            <a:off x="1280160" y="1975104"/>
            <a:ext cx="43891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F6F9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F2F6F9"/>
                </a:solidFill>
                <a:latin typeface="Calibri"/>
                <a:ea typeface="Calibri"/>
                <a:cs typeface="Calibri"/>
                <a:sym typeface="Calibri"/>
              </a:rPr>
              <a:t>Enter ALL known PEDs together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17"/>
          <p:cNvSpPr/>
          <p:nvPr/>
        </p:nvSpPr>
        <p:spPr>
          <a:xfrm>
            <a:off x="1280160" y="2359152"/>
            <a:ext cx="438912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3809"/>
              </a:lnSpc>
              <a:spcBef>
                <a:spcPts val="0"/>
              </a:spcBef>
              <a:spcAft>
                <a:spcPts val="0"/>
              </a:spcAft>
              <a:buClr>
                <a:srgbClr val="8CA0B3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8CA0B3"/>
                </a:solidFill>
                <a:latin typeface="Calibri"/>
                <a:ea typeface="Calibri"/>
                <a:cs typeface="Calibri"/>
                <a:sym typeface="Calibri"/>
              </a:rPr>
              <a:t>Never one at a time — the engine maps sequentially against the plan.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17"/>
          <p:cNvSpPr/>
          <p:nvPr/>
        </p:nvSpPr>
        <p:spPr>
          <a:xfrm>
            <a:off x="6126480" y="1828800"/>
            <a:ext cx="5349240" cy="1280160"/>
          </a:xfrm>
          <a:prstGeom prst="roundRect">
            <a:avLst>
              <a:gd fmla="val 6429" name="adj"/>
            </a:avLst>
          </a:prstGeom>
          <a:solidFill>
            <a:srgbClr val="111C2B"/>
          </a:solidFill>
          <a:ln cap="flat" cmpd="sng" w="12700">
            <a:solidFill>
              <a:srgbClr val="1E2E4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4" name="Google Shape;324;p17"/>
          <p:cNvSpPr/>
          <p:nvPr/>
        </p:nvSpPr>
        <p:spPr>
          <a:xfrm>
            <a:off x="6355080" y="2057400"/>
            <a:ext cx="384048" cy="384048"/>
          </a:xfrm>
          <a:prstGeom prst="ellipse">
            <a:avLst/>
          </a:prstGeom>
          <a:solidFill>
            <a:srgbClr val="111C2B"/>
          </a:solidFill>
          <a:ln cap="flat" cmpd="sng" w="19050">
            <a:solidFill>
              <a:srgbClr val="3B93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5" name="Google Shape;325;p17"/>
          <p:cNvSpPr/>
          <p:nvPr/>
        </p:nvSpPr>
        <p:spPr>
          <a:xfrm>
            <a:off x="6355080" y="2048256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B93E0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3B93E0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" name="Google Shape;326;p17"/>
          <p:cNvSpPr/>
          <p:nvPr/>
        </p:nvSpPr>
        <p:spPr>
          <a:xfrm>
            <a:off x="6903720" y="1975104"/>
            <a:ext cx="43891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F6F9"/>
              </a:buClr>
              <a:buSzPts val="1350"/>
              <a:buFont typeface="Calibri"/>
              <a:buNone/>
            </a:pPr>
            <a:r>
              <a:rPr b="1" lang="en-US" sz="1350">
                <a:solidFill>
                  <a:srgbClr val="F2F6F9"/>
                </a:solidFill>
                <a:latin typeface="Calibri"/>
                <a:ea typeface="Calibri"/>
                <a:cs typeface="Calibri"/>
                <a:sym typeface="Calibri"/>
              </a:rPr>
              <a:t>Run </a:t>
            </a:r>
            <a:r>
              <a:rPr b="1" i="0" lang="en-US" sz="1350" u="none" cap="none" strike="noStrike">
                <a:solidFill>
                  <a:srgbClr val="F2F6F9"/>
                </a:solidFill>
                <a:latin typeface="Calibri"/>
                <a:ea typeface="Calibri"/>
                <a:cs typeface="Calibri"/>
                <a:sym typeface="Calibri"/>
              </a:rPr>
              <a:t>Diagnoses 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Google Shape;327;p17"/>
          <p:cNvSpPr/>
          <p:nvPr/>
        </p:nvSpPr>
        <p:spPr>
          <a:xfrm>
            <a:off x="6903720" y="2359152"/>
            <a:ext cx="438912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3809"/>
              </a:lnSpc>
              <a:spcBef>
                <a:spcPts val="0"/>
              </a:spcBef>
              <a:spcAft>
                <a:spcPts val="0"/>
              </a:spcAft>
              <a:buClr>
                <a:srgbClr val="8CA0B3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8CA0B3"/>
                </a:solidFill>
                <a:latin typeface="Calibri"/>
                <a:ea typeface="Calibri"/>
                <a:cs typeface="Calibri"/>
                <a:sym typeface="Calibri"/>
              </a:rPr>
              <a:t>Run the engine on conditions, not on treatments or procedures.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p17"/>
          <p:cNvSpPr/>
          <p:nvPr/>
        </p:nvSpPr>
        <p:spPr>
          <a:xfrm>
            <a:off x="502920" y="3337560"/>
            <a:ext cx="5349240" cy="1280160"/>
          </a:xfrm>
          <a:prstGeom prst="roundRect">
            <a:avLst>
              <a:gd fmla="val 6429" name="adj"/>
            </a:avLst>
          </a:prstGeom>
          <a:solidFill>
            <a:srgbClr val="111C2B"/>
          </a:solidFill>
          <a:ln cap="flat" cmpd="sng" w="12700">
            <a:solidFill>
              <a:srgbClr val="1E2E4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9" name="Google Shape;329;p17"/>
          <p:cNvSpPr/>
          <p:nvPr/>
        </p:nvSpPr>
        <p:spPr>
          <a:xfrm>
            <a:off x="731520" y="3566160"/>
            <a:ext cx="384048" cy="384048"/>
          </a:xfrm>
          <a:prstGeom prst="ellipse">
            <a:avLst/>
          </a:prstGeom>
          <a:solidFill>
            <a:srgbClr val="111C2B"/>
          </a:solidFill>
          <a:ln cap="flat" cmpd="sng" w="19050">
            <a:solidFill>
              <a:srgbClr val="8B7C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0" name="Google Shape;330;p17"/>
          <p:cNvSpPr/>
          <p:nvPr/>
        </p:nvSpPr>
        <p:spPr>
          <a:xfrm>
            <a:off x="731520" y="3557016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B7CF0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8B7CF0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" name="Google Shape;331;p17"/>
          <p:cNvSpPr/>
          <p:nvPr/>
        </p:nvSpPr>
        <p:spPr>
          <a:xfrm>
            <a:off x="1280160" y="3483864"/>
            <a:ext cx="43891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F6F9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F2F6F9"/>
                </a:solidFill>
                <a:latin typeface="Calibri"/>
                <a:ea typeface="Calibri"/>
                <a:cs typeface="Calibri"/>
                <a:sym typeface="Calibri"/>
              </a:rPr>
              <a:t>Read the explanation, not just the tag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p17"/>
          <p:cNvSpPr/>
          <p:nvPr/>
        </p:nvSpPr>
        <p:spPr>
          <a:xfrm>
            <a:off x="1280160" y="3867912"/>
            <a:ext cx="438912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3809"/>
              </a:lnSpc>
              <a:spcBef>
                <a:spcPts val="0"/>
              </a:spcBef>
              <a:spcAft>
                <a:spcPts val="0"/>
              </a:spcAft>
              <a:buClr>
                <a:srgbClr val="8CA0B3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8CA0B3"/>
                </a:solidFill>
                <a:latin typeface="Calibri"/>
                <a:ea typeface="Calibri"/>
                <a:cs typeface="Calibri"/>
                <a:sym typeface="Calibri"/>
              </a:rPr>
              <a:t>Every match includes the </a:t>
            </a:r>
            <a:r>
              <a:rPr lang="en-US" sz="1050">
                <a:solidFill>
                  <a:srgbClr val="8CA0B3"/>
                </a:solidFill>
                <a:latin typeface="Calibri"/>
                <a:ea typeface="Calibri"/>
                <a:cs typeface="Calibri"/>
                <a:sym typeface="Calibri"/>
              </a:rPr>
              <a:t>mapping logic </a:t>
            </a:r>
            <a:r>
              <a:rPr lang="en-US" sz="1050">
                <a:solidFill>
                  <a:srgbClr val="8CA0B3"/>
                </a:solidFill>
                <a:latin typeface="Calibri"/>
                <a:ea typeface="Calibri"/>
                <a:cs typeface="Calibri"/>
                <a:sym typeface="Calibri"/>
              </a:rPr>
              <a:t>— </a:t>
            </a:r>
            <a:r>
              <a:rPr b="0" i="0" lang="en-US" sz="1050" u="none" cap="none" strike="noStrike">
                <a:solidFill>
                  <a:srgbClr val="8CA0B3"/>
                </a:solidFill>
                <a:latin typeface="Calibri"/>
                <a:ea typeface="Calibri"/>
                <a:cs typeface="Calibri"/>
                <a:sym typeface="Calibri"/>
              </a:rPr>
              <a:t>use it.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" name="Google Shape;333;p17"/>
          <p:cNvSpPr/>
          <p:nvPr/>
        </p:nvSpPr>
        <p:spPr>
          <a:xfrm>
            <a:off x="6126480" y="3337560"/>
            <a:ext cx="5349240" cy="1280160"/>
          </a:xfrm>
          <a:prstGeom prst="roundRect">
            <a:avLst>
              <a:gd fmla="val 6429" name="adj"/>
            </a:avLst>
          </a:prstGeom>
          <a:solidFill>
            <a:srgbClr val="111C2B"/>
          </a:solidFill>
          <a:ln cap="flat" cmpd="sng" w="12700">
            <a:solidFill>
              <a:srgbClr val="1E2E4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4" name="Google Shape;334;p17"/>
          <p:cNvSpPr/>
          <p:nvPr/>
        </p:nvSpPr>
        <p:spPr>
          <a:xfrm>
            <a:off x="6355080" y="3566160"/>
            <a:ext cx="384048" cy="384048"/>
          </a:xfrm>
          <a:prstGeom prst="ellipse">
            <a:avLst/>
          </a:prstGeom>
          <a:solidFill>
            <a:srgbClr val="111C2B"/>
          </a:solidFill>
          <a:ln cap="flat" cmpd="sng" w="19050">
            <a:solidFill>
              <a:srgbClr val="E259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5" name="Google Shape;335;p17"/>
          <p:cNvSpPr/>
          <p:nvPr/>
        </p:nvSpPr>
        <p:spPr>
          <a:xfrm>
            <a:off x="6355080" y="3557016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2596B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E2596B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" name="Google Shape;336;p17"/>
          <p:cNvSpPr/>
          <p:nvPr/>
        </p:nvSpPr>
        <p:spPr>
          <a:xfrm>
            <a:off x="6903720" y="3483864"/>
            <a:ext cx="43891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F6F9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F2F6F9"/>
                </a:solidFill>
                <a:latin typeface="Calibri"/>
                <a:ea typeface="Calibri"/>
                <a:cs typeface="Calibri"/>
                <a:sym typeface="Calibri"/>
              </a:rPr>
              <a:t>Linked PED Narrative is mandatory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" name="Google Shape;337;p17"/>
          <p:cNvSpPr/>
          <p:nvPr/>
        </p:nvSpPr>
        <p:spPr>
          <a:xfrm>
            <a:off x="6903720" y="3867912"/>
            <a:ext cx="438912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3809"/>
              </a:lnSpc>
              <a:spcBef>
                <a:spcPts val="0"/>
              </a:spcBef>
              <a:spcAft>
                <a:spcPts val="0"/>
              </a:spcAft>
              <a:buClr>
                <a:srgbClr val="8CA0B3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8CA0B3"/>
                </a:solidFill>
                <a:latin typeface="Calibri"/>
                <a:ea typeface="Calibri"/>
                <a:cs typeface="Calibri"/>
                <a:sym typeface="Calibri"/>
              </a:rPr>
              <a:t>Not an optional note when it appears — </a:t>
            </a:r>
            <a:r>
              <a:rPr lang="en-US" sz="1050">
                <a:solidFill>
                  <a:srgbClr val="8CA0B3"/>
                </a:solidFill>
                <a:latin typeface="Calibri"/>
                <a:ea typeface="Calibri"/>
                <a:cs typeface="Calibri"/>
                <a:sym typeface="Calibri"/>
              </a:rPr>
              <a:t>that's</a:t>
            </a:r>
            <a:r>
              <a:rPr b="0" i="0" lang="en-US" sz="1050" u="none" cap="none" strike="noStrike">
                <a:solidFill>
                  <a:srgbClr val="8CA0B3"/>
                </a:solidFill>
                <a:latin typeface="Calibri"/>
                <a:ea typeface="Calibri"/>
                <a:cs typeface="Calibri"/>
                <a:sym typeface="Calibri"/>
              </a:rPr>
              <a:t> your queue to discuss it with customer.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" name="Google Shape;338;p17"/>
          <p:cNvSpPr/>
          <p:nvPr/>
        </p:nvSpPr>
        <p:spPr>
          <a:xfrm>
            <a:off x="502920" y="4846320"/>
            <a:ext cx="5349240" cy="1280160"/>
          </a:xfrm>
          <a:prstGeom prst="roundRect">
            <a:avLst>
              <a:gd fmla="val 6429" name="adj"/>
            </a:avLst>
          </a:prstGeom>
          <a:solidFill>
            <a:srgbClr val="111C2B"/>
          </a:solidFill>
          <a:ln cap="flat" cmpd="sng" w="12700">
            <a:solidFill>
              <a:srgbClr val="1E2E4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9" name="Google Shape;339;p17"/>
          <p:cNvSpPr/>
          <p:nvPr/>
        </p:nvSpPr>
        <p:spPr>
          <a:xfrm>
            <a:off x="731520" y="5074920"/>
            <a:ext cx="384048" cy="384048"/>
          </a:xfrm>
          <a:prstGeom prst="ellipse">
            <a:avLst/>
          </a:prstGeom>
          <a:solidFill>
            <a:srgbClr val="111C2B"/>
          </a:solidFill>
          <a:ln cap="flat" cmpd="sng" w="19050">
            <a:solidFill>
              <a:srgbClr val="F5A42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0" name="Google Shape;340;p17"/>
          <p:cNvSpPr/>
          <p:nvPr/>
        </p:nvSpPr>
        <p:spPr>
          <a:xfrm>
            <a:off x="731520" y="5065776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A429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F5A429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" name="Google Shape;341;p17"/>
          <p:cNvSpPr/>
          <p:nvPr/>
        </p:nvSpPr>
        <p:spPr>
          <a:xfrm>
            <a:off x="1280160" y="4992624"/>
            <a:ext cx="43891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F6F9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F2F6F9"/>
                </a:solidFill>
                <a:latin typeface="Calibri"/>
                <a:ea typeface="Calibri"/>
                <a:cs typeface="Calibri"/>
                <a:sym typeface="Calibri"/>
              </a:rPr>
              <a:t>Cross-check Quick Reference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2" name="Google Shape;342;p17"/>
          <p:cNvSpPr/>
          <p:nvPr/>
        </p:nvSpPr>
        <p:spPr>
          <a:xfrm>
            <a:off x="1280160" y="5376672"/>
            <a:ext cx="438912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3809"/>
              </a:lnSpc>
              <a:spcBef>
                <a:spcPts val="0"/>
              </a:spcBef>
              <a:spcAft>
                <a:spcPts val="0"/>
              </a:spcAft>
              <a:buClr>
                <a:srgbClr val="8CA0B3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8CA0B3"/>
                </a:solidFill>
                <a:latin typeface="Calibri"/>
                <a:ea typeface="Calibri"/>
                <a:cs typeface="Calibri"/>
                <a:sym typeface="Calibri"/>
              </a:rPr>
              <a:t>Overlap Rules, Payment Journey Questions, Specific Illness List — before finalizing.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3" name="Google Shape;343;p17"/>
          <p:cNvSpPr/>
          <p:nvPr/>
        </p:nvSpPr>
        <p:spPr>
          <a:xfrm>
            <a:off x="6126480" y="4846320"/>
            <a:ext cx="5349240" cy="1280160"/>
          </a:xfrm>
          <a:prstGeom prst="roundRect">
            <a:avLst>
              <a:gd fmla="val 6429" name="adj"/>
            </a:avLst>
          </a:prstGeom>
          <a:solidFill>
            <a:srgbClr val="111C2B"/>
          </a:solidFill>
          <a:ln cap="flat" cmpd="sng" w="12700">
            <a:solidFill>
              <a:srgbClr val="1E2E4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4" name="Google Shape;344;p17"/>
          <p:cNvSpPr/>
          <p:nvPr/>
        </p:nvSpPr>
        <p:spPr>
          <a:xfrm>
            <a:off x="6355080" y="5074920"/>
            <a:ext cx="384048" cy="384048"/>
          </a:xfrm>
          <a:prstGeom prst="ellipse">
            <a:avLst/>
          </a:prstGeom>
          <a:solidFill>
            <a:srgbClr val="111C2B"/>
          </a:solidFill>
          <a:ln cap="flat" cmpd="sng" w="19050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5" name="Google Shape;345;p17"/>
          <p:cNvSpPr/>
          <p:nvPr/>
        </p:nvSpPr>
        <p:spPr>
          <a:xfrm>
            <a:off x="6355100" y="4977149"/>
            <a:ext cx="384000" cy="57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DD68C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 b="0" i="0" sz="1500" u="none" cap="none" strike="noStrike">
              <a:solidFill>
                <a:srgbClr val="CC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6" name="Google Shape;346;p17"/>
          <p:cNvSpPr/>
          <p:nvPr/>
        </p:nvSpPr>
        <p:spPr>
          <a:xfrm>
            <a:off x="6903720" y="4992624"/>
            <a:ext cx="43891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F6F9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F2F6F9"/>
                </a:solidFill>
                <a:latin typeface="Calibri"/>
                <a:ea typeface="Calibri"/>
                <a:cs typeface="Calibri"/>
                <a:sym typeface="Calibri"/>
              </a:rPr>
              <a:t>Flag anything that looks wrong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7" name="Google Shape;347;p17"/>
          <p:cNvSpPr/>
          <p:nvPr/>
        </p:nvSpPr>
        <p:spPr>
          <a:xfrm>
            <a:off x="6903720" y="5376672"/>
            <a:ext cx="438912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3809"/>
              </a:lnSpc>
              <a:spcBef>
                <a:spcPts val="0"/>
              </a:spcBef>
              <a:spcAft>
                <a:spcPts val="0"/>
              </a:spcAft>
              <a:buClr>
                <a:srgbClr val="8CA0B3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8CA0B3"/>
                </a:solidFill>
                <a:latin typeface="Calibri"/>
                <a:ea typeface="Calibri"/>
                <a:cs typeface="Calibri"/>
                <a:sym typeface="Calibri"/>
              </a:rPr>
              <a:t>Don't guess — use the Flag option to report a mismatch.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8" name="Google Shape;348;p17"/>
          <p:cNvSpPr/>
          <p:nvPr/>
        </p:nvSpPr>
        <p:spPr>
          <a:xfrm>
            <a:off x="502920" y="6519672"/>
            <a:ext cx="6400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850">
                <a:solidFill>
                  <a:srgbClr val="5C7086"/>
                </a:solidFill>
                <a:latin typeface="Calibri"/>
                <a:ea typeface="Calibri"/>
                <a:cs typeface="Calibri"/>
                <a:sym typeface="Calibri"/>
              </a:rPr>
              <a:t>DECLARATION ASSISTANT — YOUR PAYMENT ASSISTANT</a:t>
            </a:r>
            <a:endParaRPr sz="850">
              <a:solidFill>
                <a:srgbClr val="5C708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9" name="Google Shape;349;p17"/>
          <p:cNvSpPr/>
          <p:nvPr/>
        </p:nvSpPr>
        <p:spPr>
          <a:xfrm>
            <a:off x="11521440" y="6519672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C7086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5C7086"/>
                </a:solidFill>
                <a:latin typeface="Calibri"/>
                <a:ea typeface="Calibri"/>
                <a:cs typeface="Calibri"/>
                <a:sym typeface="Calibri"/>
              </a:rPr>
              <a:t>15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1420"/>
        </a:solidFill>
      </p:bgPr>
    </p:bg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18"/>
          <p:cNvSpPr/>
          <p:nvPr/>
        </p:nvSpPr>
        <p:spPr>
          <a:xfrm>
            <a:off x="5212080" y="1463040"/>
            <a:ext cx="182880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D3F3"/>
              </a:buClr>
              <a:buSzPts val="6000"/>
              <a:buFont typeface="Calibri"/>
              <a:buNone/>
            </a:pPr>
            <a:r>
              <a:rPr b="0" i="0" lang="en-US" sz="6000" u="none" cap="none" strike="noStrike">
                <a:solidFill>
                  <a:srgbClr val="00D3F3"/>
                </a:solidFill>
                <a:latin typeface="Calibri"/>
                <a:ea typeface="Calibri"/>
                <a:cs typeface="Calibri"/>
                <a:sym typeface="Calibri"/>
              </a:rPr>
              <a:t>✦</a:t>
            </a:r>
            <a:endParaRPr b="0" i="0" sz="6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6" name="Google Shape;356;p18"/>
          <p:cNvSpPr/>
          <p:nvPr/>
        </p:nvSpPr>
        <p:spPr>
          <a:xfrm>
            <a:off x="0" y="2788920"/>
            <a:ext cx="12191695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2F6F9"/>
              </a:buClr>
              <a:buSzPts val="4000"/>
              <a:buFont typeface="Cambria"/>
              <a:buNone/>
            </a:pPr>
            <a:r>
              <a:rPr b="1" i="0" lang="en-US" sz="4000" u="none" cap="none" strike="noStrike">
                <a:solidFill>
                  <a:srgbClr val="F2F6F9"/>
                </a:solidFill>
                <a:latin typeface="Cambria"/>
                <a:ea typeface="Cambria"/>
                <a:cs typeface="Cambria"/>
                <a:sym typeface="Cambria"/>
              </a:rPr>
              <a:t>Questions?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7" name="Google Shape;357;p18"/>
          <p:cNvSpPr/>
          <p:nvPr/>
        </p:nvSpPr>
        <p:spPr>
          <a:xfrm>
            <a:off x="1371600" y="3611880"/>
            <a:ext cx="9448495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CA0B3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8CA0B3"/>
                </a:solidFill>
                <a:latin typeface="Calibri"/>
                <a:ea typeface="Calibri"/>
                <a:cs typeface="Calibri"/>
                <a:sym typeface="Calibri"/>
              </a:rPr>
              <a:t>Reach out to your Respecti</a:t>
            </a:r>
            <a:r>
              <a:rPr lang="en-US" sz="1500">
                <a:solidFill>
                  <a:srgbClr val="8CA0B3"/>
                </a:solidFill>
                <a:latin typeface="Calibri"/>
                <a:ea typeface="Calibri"/>
                <a:cs typeface="Calibri"/>
                <a:sym typeface="Calibri"/>
              </a:rPr>
              <a:t>ve Guide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8" name="Google Shape;358;p18"/>
          <p:cNvSpPr/>
          <p:nvPr/>
        </p:nvSpPr>
        <p:spPr>
          <a:xfrm>
            <a:off x="0" y="6126480"/>
            <a:ext cx="12191695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C7086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5C7086"/>
                </a:solidFill>
                <a:latin typeface="Calibri"/>
                <a:ea typeface="Calibri"/>
                <a:cs typeface="Calibri"/>
                <a:sym typeface="Calibri"/>
              </a:rPr>
              <a:t>DITTO  ·  DECLARATION ASSISTANT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1420"/>
        </a:solidFill>
      </p:bgPr>
    </p:bg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10"/>
          <p:cNvSpPr/>
          <p:nvPr/>
        </p:nvSpPr>
        <p:spPr>
          <a:xfrm>
            <a:off x="502920" y="475488"/>
            <a:ext cx="128100" cy="128100"/>
          </a:xfrm>
          <a:prstGeom prst="ellipse">
            <a:avLst/>
          </a:prstGeom>
          <a:solidFill>
            <a:srgbClr val="E2596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10"/>
          <p:cNvSpPr/>
          <p:nvPr/>
        </p:nvSpPr>
        <p:spPr>
          <a:xfrm>
            <a:off x="731520" y="365760"/>
            <a:ext cx="73152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596B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E2596B"/>
                </a:solidFill>
                <a:latin typeface="Calibri"/>
                <a:ea typeface="Calibri"/>
                <a:cs typeface="Calibri"/>
                <a:sym typeface="Calibri"/>
              </a:rPr>
              <a:t>PART 8 · COVERAGE PROJECTION STUDIO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10"/>
          <p:cNvSpPr/>
          <p:nvPr/>
        </p:nvSpPr>
        <p:spPr>
          <a:xfrm>
            <a:off x="502920" y="685800"/>
            <a:ext cx="78639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Clr>
                <a:srgbClr val="F2F6F9"/>
              </a:buClr>
              <a:buSzPts val="3200"/>
              <a:buFont typeface="Cambria"/>
              <a:buNone/>
            </a:pPr>
            <a:r>
              <a:rPr b="1" i="0" lang="en-US" sz="3200" u="none" cap="none" strike="noStrike">
                <a:solidFill>
                  <a:srgbClr val="F2F6F9"/>
                </a:solidFill>
                <a:latin typeface="Cambria"/>
                <a:ea typeface="Cambria"/>
                <a:cs typeface="Cambria"/>
                <a:sym typeface="Cambria"/>
              </a:rPr>
              <a:t>Configuring a Projection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10"/>
          <p:cNvSpPr/>
          <p:nvPr/>
        </p:nvSpPr>
        <p:spPr>
          <a:xfrm>
            <a:off x="502920" y="1714500"/>
            <a:ext cx="4191000" cy="4381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47625" lIns="47625" spcFirstLastPara="1" rIns="47625" wrap="square" tIns="476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50">
                <a:solidFill>
                  <a:srgbClr val="E2596B"/>
                </a:solidFill>
                <a:latin typeface="Calibri"/>
                <a:ea typeface="Calibri"/>
                <a:cs typeface="Calibri"/>
                <a:sym typeface="Calibri"/>
              </a:rPr>
              <a:t>01 · PLAN &amp; COVER</a:t>
            </a:r>
            <a:endParaRPr b="1" sz="1050">
              <a:solidFill>
                <a:srgbClr val="E2596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F2F6F9"/>
                </a:solidFill>
                <a:latin typeface="Cambria"/>
                <a:ea typeface="Cambria"/>
                <a:cs typeface="Cambria"/>
                <a:sym typeface="Cambria"/>
              </a:rPr>
              <a:t>Set the Foundation</a:t>
            </a:r>
            <a:endParaRPr b="1" sz="1500">
              <a:solidFill>
                <a:srgbClr val="F2F6F9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l">
              <a:spcBef>
                <a:spcPts val="450"/>
              </a:spcBef>
              <a:spcAft>
                <a:spcPts val="0"/>
              </a:spcAft>
              <a:buNone/>
            </a:pPr>
            <a:r>
              <a:rPr lang="en-US" sz="1150">
                <a:solidFill>
                  <a:srgbClr val="8CA0B3"/>
                </a:solidFill>
                <a:latin typeface="Calibri"/>
                <a:ea typeface="Calibri"/>
                <a:cs typeface="Calibri"/>
                <a:sym typeface="Calibri"/>
              </a:rPr>
              <a:t>Pick the Plan, then Sum Insured from the preset chips (or a custom amount in lakhs) and the Projection Years to illustrate.</a:t>
            </a:r>
            <a:endParaRPr sz="1150">
              <a:solidFill>
                <a:srgbClr val="8CA0B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2100"/>
              </a:spcBef>
              <a:spcAft>
                <a:spcPts val="0"/>
              </a:spcAft>
              <a:buNone/>
            </a:pPr>
            <a:r>
              <a:rPr b="1" lang="en-US" sz="1050">
                <a:solidFill>
                  <a:srgbClr val="E2596B"/>
                </a:solidFill>
                <a:latin typeface="Calibri"/>
                <a:ea typeface="Calibri"/>
                <a:cs typeface="Calibri"/>
                <a:sym typeface="Calibri"/>
              </a:rPr>
              <a:t>02 · RIDERS &amp; BENEFITS</a:t>
            </a:r>
            <a:endParaRPr b="1" sz="1050">
              <a:solidFill>
                <a:srgbClr val="E2596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F2F6F9"/>
                </a:solidFill>
                <a:latin typeface="Cambria"/>
                <a:ea typeface="Cambria"/>
                <a:cs typeface="Cambria"/>
                <a:sym typeface="Cambria"/>
              </a:rPr>
              <a:t>Match the Real Policy</a:t>
            </a:r>
            <a:endParaRPr b="1" sz="1500">
              <a:solidFill>
                <a:srgbClr val="F2F6F9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l">
              <a:spcBef>
                <a:spcPts val="450"/>
              </a:spcBef>
              <a:spcAft>
                <a:spcPts val="0"/>
              </a:spcAft>
              <a:buNone/>
            </a:pPr>
            <a:r>
              <a:rPr lang="en-US" sz="1150">
                <a:solidFill>
                  <a:srgbClr val="8CA0B3"/>
                </a:solidFill>
                <a:latin typeface="Calibri"/>
                <a:ea typeface="Calibri"/>
                <a:cs typeface="Calibri"/>
                <a:sym typeface="Calibri"/>
              </a:rPr>
              <a:t>Toggle Unlimited Restore Rider, Secure Benefit, and Bonus/Restoration on only if the customer's actual plan includes them.</a:t>
            </a:r>
            <a:endParaRPr sz="1150">
              <a:solidFill>
                <a:srgbClr val="8CA0B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2100"/>
              </a:spcBef>
              <a:spcAft>
                <a:spcPts val="0"/>
              </a:spcAft>
              <a:buNone/>
            </a:pPr>
            <a:r>
              <a:rPr b="1" lang="en-US" sz="1050">
                <a:solidFill>
                  <a:srgbClr val="E2596B"/>
                </a:solidFill>
                <a:latin typeface="Calibri"/>
                <a:ea typeface="Calibri"/>
                <a:cs typeface="Calibri"/>
                <a:sym typeface="Calibri"/>
              </a:rPr>
              <a:t>03 · CLAIM SCENARIOS</a:t>
            </a:r>
            <a:endParaRPr b="1" sz="1050">
              <a:solidFill>
                <a:srgbClr val="E2596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F2F6F9"/>
                </a:solidFill>
                <a:latin typeface="Cambria"/>
                <a:ea typeface="Cambria"/>
                <a:cs typeface="Cambria"/>
                <a:sym typeface="Cambria"/>
              </a:rPr>
              <a:t>Model Claims, Then Generate</a:t>
            </a:r>
            <a:endParaRPr b="1" sz="1500">
              <a:solidFill>
                <a:srgbClr val="F2F6F9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l">
              <a:spcBef>
                <a:spcPts val="450"/>
              </a:spcBef>
              <a:spcAft>
                <a:spcPts val="0"/>
              </a:spcAft>
              <a:buNone/>
            </a:pPr>
            <a:r>
              <a:rPr lang="en-US" sz="1150">
                <a:solidFill>
                  <a:srgbClr val="8CA0B3"/>
                </a:solidFill>
                <a:latin typeface="Calibri"/>
                <a:ea typeface="Calibri"/>
                <a:cs typeface="Calibri"/>
                <a:sym typeface="Calibri"/>
              </a:rPr>
              <a:t>Add hypothetical claim amounts against any policy year to see how cover responds, then click Generate.</a:t>
            </a:r>
            <a:endParaRPr sz="1150">
              <a:solidFill>
                <a:srgbClr val="8CA0B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10"/>
          <p:cNvSpPr/>
          <p:nvPr/>
        </p:nvSpPr>
        <p:spPr>
          <a:xfrm>
            <a:off x="4956048" y="2235139"/>
            <a:ext cx="6775800" cy="3622200"/>
          </a:xfrm>
          <a:prstGeom prst="roundRect">
            <a:avLst>
              <a:gd fmla="val 2020" name="adj"/>
            </a:avLst>
          </a:prstGeom>
          <a:solidFill>
            <a:srgbClr val="111C2B"/>
          </a:solidFill>
          <a:ln cap="flat" cmpd="sng" w="12700">
            <a:solidFill>
              <a:srgbClr val="1E2E42"/>
            </a:solidFill>
            <a:prstDash val="solid"/>
            <a:round/>
            <a:headEnd len="sm" w="sm" type="none"/>
            <a:tailEnd len="sm" w="sm" type="none"/>
          </a:ln>
          <a:effectLst>
            <a:outerShdw blurRad="228600" rotWithShape="0" algn="bl" dir="5400000" dist="76200">
              <a:srgbClr val="000000">
                <a:alpha val="4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Coverage Projection Studio - Plan Configuration screen" id="184" name="Google Shape;184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074920" y="2354011"/>
            <a:ext cx="6537962" cy="3384416"/>
          </a:xfrm>
          <a:prstGeom prst="rect">
            <a:avLst/>
          </a:prstGeom>
          <a:noFill/>
          <a:ln>
            <a:noFill/>
          </a:ln>
        </p:spPr>
      </p:pic>
      <p:sp>
        <p:nvSpPr>
          <p:cNvPr id="185" name="Google Shape;185;p10"/>
          <p:cNvSpPr/>
          <p:nvPr/>
        </p:nvSpPr>
        <p:spPr>
          <a:xfrm>
            <a:off x="502920" y="6519672"/>
            <a:ext cx="64008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850">
                <a:solidFill>
                  <a:srgbClr val="5C7086"/>
                </a:solidFill>
                <a:latin typeface="Calibri"/>
                <a:ea typeface="Calibri"/>
                <a:cs typeface="Calibri"/>
                <a:sym typeface="Calibri"/>
              </a:rPr>
              <a:t>DECLARATION ASSISTANT — YOUR PAYMENT ASSISTANT</a:t>
            </a:r>
            <a:endParaRPr sz="850">
              <a:solidFill>
                <a:srgbClr val="5C708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10"/>
          <p:cNvSpPr/>
          <p:nvPr/>
        </p:nvSpPr>
        <p:spPr>
          <a:xfrm>
            <a:off x="11521440" y="6519672"/>
            <a:ext cx="457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C7086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5C7086"/>
                </a:solidFill>
                <a:latin typeface="Calibri"/>
                <a:ea typeface="Calibri"/>
                <a:cs typeface="Calibri"/>
                <a:sym typeface="Calibri"/>
              </a:rPr>
              <a:t>16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1420"/>
        </a:solidFill>
      </p:bgPr>
    </p:bg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10"/>
          <p:cNvSpPr/>
          <p:nvPr/>
        </p:nvSpPr>
        <p:spPr>
          <a:xfrm>
            <a:off x="502920" y="475488"/>
            <a:ext cx="128100" cy="128100"/>
          </a:xfrm>
          <a:prstGeom prst="ellipse">
            <a:avLst/>
          </a:prstGeom>
          <a:solidFill>
            <a:srgbClr val="E2596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10"/>
          <p:cNvSpPr/>
          <p:nvPr/>
        </p:nvSpPr>
        <p:spPr>
          <a:xfrm>
            <a:off x="731520" y="365760"/>
            <a:ext cx="73152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596B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E2596B"/>
                </a:solidFill>
                <a:latin typeface="Calibri"/>
                <a:ea typeface="Calibri"/>
                <a:cs typeface="Calibri"/>
                <a:sym typeface="Calibri"/>
              </a:rPr>
              <a:t>PART 9 · COVERAGE PROJECTION STUDIO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10"/>
          <p:cNvSpPr/>
          <p:nvPr/>
        </p:nvSpPr>
        <p:spPr>
          <a:xfrm>
            <a:off x="502920" y="685800"/>
            <a:ext cx="78639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Clr>
                <a:srgbClr val="F2F6F9"/>
              </a:buClr>
              <a:buSzPts val="3200"/>
              <a:buFont typeface="Cambria"/>
              <a:buNone/>
            </a:pPr>
            <a:r>
              <a:rPr b="1" i="0" lang="en-US" sz="3200" u="none" cap="none" strike="noStrike">
                <a:solidFill>
                  <a:srgbClr val="F2F6F9"/>
                </a:solidFill>
                <a:latin typeface="Cambria"/>
                <a:ea typeface="Cambria"/>
                <a:cs typeface="Cambria"/>
                <a:sym typeface="Cambria"/>
              </a:rPr>
              <a:t>Reading the Year-by-Year Results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10"/>
          <p:cNvSpPr/>
          <p:nvPr/>
        </p:nvSpPr>
        <p:spPr>
          <a:xfrm>
            <a:off x="502920" y="1714500"/>
            <a:ext cx="4191000" cy="4381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47625" lIns="47625" spcFirstLastPara="1" rIns="47625" wrap="square" tIns="476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50">
                <a:solidFill>
                  <a:srgbClr val="E2596B"/>
                </a:solidFill>
                <a:latin typeface="Calibri"/>
                <a:ea typeface="Calibri"/>
                <a:cs typeface="Calibri"/>
                <a:sym typeface="Calibri"/>
              </a:rPr>
              <a:t>01 · COVER COMPONENTS</a:t>
            </a:r>
            <a:endParaRPr b="1" sz="1050">
              <a:solidFill>
                <a:srgbClr val="E2596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F2F6F9"/>
                </a:solidFill>
                <a:latin typeface="Cambria"/>
                <a:ea typeface="Cambria"/>
                <a:cs typeface="Cambria"/>
                <a:sym typeface="Cambria"/>
              </a:rPr>
              <a:t>Base Sum, Secure Benefit, Bonus</a:t>
            </a:r>
            <a:endParaRPr b="1" sz="1500">
              <a:solidFill>
                <a:srgbClr val="F2F6F9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l">
              <a:spcBef>
                <a:spcPts val="450"/>
              </a:spcBef>
              <a:spcAft>
                <a:spcPts val="0"/>
              </a:spcAft>
              <a:buNone/>
            </a:pPr>
            <a:r>
              <a:rPr lang="en-US" sz="1150">
                <a:solidFill>
                  <a:srgbClr val="8CA0B3"/>
                </a:solidFill>
                <a:latin typeface="Calibri"/>
                <a:ea typeface="Calibri"/>
                <a:cs typeface="Calibri"/>
                <a:sym typeface="Calibri"/>
              </a:rPr>
              <a:t>Each column tracks how much of that benefit remains after every event; Bonus adds up to 50% extra per claim-free renewal, capped at 100% of Base SI.</a:t>
            </a:r>
            <a:endParaRPr sz="1150">
              <a:solidFill>
                <a:srgbClr val="8CA0B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2100"/>
              </a:spcBef>
              <a:spcAft>
                <a:spcPts val="0"/>
              </a:spcAft>
              <a:buNone/>
            </a:pPr>
            <a:r>
              <a:rPr b="1" lang="en-US" sz="1050">
                <a:solidFill>
                  <a:srgbClr val="E2596B"/>
                </a:solidFill>
                <a:latin typeface="Calibri"/>
                <a:ea typeface="Calibri"/>
                <a:cs typeface="Calibri"/>
                <a:sym typeface="Calibri"/>
              </a:rPr>
              <a:t>02 · RESTORATION</a:t>
            </a:r>
            <a:endParaRPr b="1" sz="1050">
              <a:solidFill>
                <a:srgbClr val="E2596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F2F6F9"/>
                </a:solidFill>
                <a:latin typeface="Cambria"/>
                <a:ea typeface="Cambria"/>
                <a:cs typeface="Cambria"/>
                <a:sym typeface="Cambria"/>
              </a:rPr>
              <a:t>Automatic Top-Up Mid-Year</a:t>
            </a:r>
            <a:endParaRPr b="1" sz="1500">
              <a:solidFill>
                <a:srgbClr val="F2F6F9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l">
              <a:spcBef>
                <a:spcPts val="450"/>
              </a:spcBef>
              <a:spcAft>
                <a:spcPts val="0"/>
              </a:spcAft>
              <a:buNone/>
            </a:pPr>
            <a:r>
              <a:rPr lang="en-US" sz="1150">
                <a:solidFill>
                  <a:srgbClr val="8CA0B3"/>
                </a:solidFill>
                <a:latin typeface="Calibri"/>
                <a:ea typeface="Calibri"/>
                <a:cs typeface="Calibri"/>
                <a:sym typeface="Calibri"/>
              </a:rPr>
              <a:t>100% restoration on partial exhaustion, unlocked for the next claim within the same policy year — a single claim still can't exceed Base SI + Secure Benefit.</a:t>
            </a:r>
            <a:endParaRPr sz="1150">
              <a:solidFill>
                <a:srgbClr val="8CA0B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2100"/>
              </a:spcBef>
              <a:spcAft>
                <a:spcPts val="0"/>
              </a:spcAft>
              <a:buNone/>
            </a:pPr>
            <a:r>
              <a:rPr b="1" lang="en-US" sz="1050">
                <a:solidFill>
                  <a:srgbClr val="E2596B"/>
                </a:solidFill>
                <a:latin typeface="Calibri"/>
                <a:ea typeface="Calibri"/>
                <a:cs typeface="Calibri"/>
                <a:sym typeface="Calibri"/>
              </a:rPr>
              <a:t>03 · SHORTFALLS &amp; EXPORT</a:t>
            </a:r>
            <a:endParaRPr b="1" sz="1050">
              <a:solidFill>
                <a:srgbClr val="E2596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F2F6F9"/>
                </a:solidFill>
                <a:latin typeface="Cambria"/>
                <a:ea typeface="Cambria"/>
                <a:cs typeface="Cambria"/>
                <a:sym typeface="Cambria"/>
              </a:rPr>
              <a:t>Flag Gaps, Then Share</a:t>
            </a:r>
            <a:endParaRPr b="1" sz="1500">
              <a:solidFill>
                <a:srgbClr val="F2F6F9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l">
              <a:spcBef>
                <a:spcPts val="450"/>
              </a:spcBef>
              <a:spcAft>
                <a:spcPts val="0"/>
              </a:spcAft>
              <a:buNone/>
            </a:pPr>
            <a:r>
              <a:rPr lang="en-US" sz="1150">
                <a:solidFill>
                  <a:srgbClr val="8CA0B3"/>
                </a:solidFill>
                <a:latin typeface="Calibri"/>
                <a:ea typeface="Calibri"/>
                <a:cs typeface="Calibri"/>
                <a:sym typeface="Calibri"/>
              </a:rPr>
              <a:t>Any claim beyond available cover shows in red as a shortfall payable by the insured; use Copy Table or the download icon to export the illustration.</a:t>
            </a:r>
            <a:endParaRPr sz="1150">
              <a:solidFill>
                <a:srgbClr val="8CA0B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10"/>
          <p:cNvSpPr/>
          <p:nvPr/>
        </p:nvSpPr>
        <p:spPr>
          <a:xfrm>
            <a:off x="4956048" y="2235139"/>
            <a:ext cx="6775800" cy="3622200"/>
          </a:xfrm>
          <a:prstGeom prst="roundRect">
            <a:avLst>
              <a:gd fmla="val 2020" name="adj"/>
            </a:avLst>
          </a:prstGeom>
          <a:solidFill>
            <a:srgbClr val="111C2B"/>
          </a:solidFill>
          <a:ln cap="flat" cmpd="sng" w="12700">
            <a:solidFill>
              <a:srgbClr val="1E2E42"/>
            </a:solidFill>
            <a:prstDash val="solid"/>
            <a:round/>
            <a:headEnd len="sm" w="sm" type="none"/>
            <a:tailEnd len="sm" w="sm" type="none"/>
          </a:ln>
          <a:effectLst>
            <a:outerShdw blurRad="228600" rotWithShape="0" algn="bl" dir="5400000" dist="76200">
              <a:srgbClr val="000000">
                <a:alpha val="4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Coverage Projection Studio - Year-by-Year Results table" id="184" name="Google Shape;184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074920" y="2354011"/>
            <a:ext cx="6537962" cy="3384416"/>
          </a:xfrm>
          <a:prstGeom prst="rect">
            <a:avLst/>
          </a:prstGeom>
          <a:noFill/>
          <a:ln>
            <a:noFill/>
          </a:ln>
        </p:spPr>
      </p:pic>
      <p:sp>
        <p:nvSpPr>
          <p:cNvPr id="185" name="Google Shape;185;p10"/>
          <p:cNvSpPr/>
          <p:nvPr/>
        </p:nvSpPr>
        <p:spPr>
          <a:xfrm>
            <a:off x="502920" y="6519672"/>
            <a:ext cx="64008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850">
                <a:solidFill>
                  <a:srgbClr val="5C7086"/>
                </a:solidFill>
                <a:latin typeface="Calibri"/>
                <a:ea typeface="Calibri"/>
                <a:cs typeface="Calibri"/>
                <a:sym typeface="Calibri"/>
              </a:rPr>
              <a:t>DECLARATION ASSISTANT — YOUR PAYMENT ASSISTANT</a:t>
            </a:r>
            <a:endParaRPr sz="850">
              <a:solidFill>
                <a:srgbClr val="5C708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10"/>
          <p:cNvSpPr/>
          <p:nvPr/>
        </p:nvSpPr>
        <p:spPr>
          <a:xfrm>
            <a:off x="11521440" y="6519672"/>
            <a:ext cx="457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C7086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5C7086"/>
                </a:solidFill>
                <a:latin typeface="Calibri"/>
                <a:ea typeface="Calibri"/>
                <a:cs typeface="Calibri"/>
                <a:sym typeface="Calibri"/>
              </a:rPr>
              <a:t>17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1420"/>
        </a:solidFill>
      </p:bgPr>
    </p:bg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10"/>
          <p:cNvSpPr/>
          <p:nvPr/>
        </p:nvSpPr>
        <p:spPr>
          <a:xfrm>
            <a:off x="502920" y="475488"/>
            <a:ext cx="128100" cy="128100"/>
          </a:xfrm>
          <a:prstGeom prst="ellipse">
            <a:avLst/>
          </a:prstGeom>
          <a:solidFill>
            <a:srgbClr val="E2596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10"/>
          <p:cNvSpPr/>
          <p:nvPr/>
        </p:nvSpPr>
        <p:spPr>
          <a:xfrm>
            <a:off x="731520" y="365760"/>
            <a:ext cx="73152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596B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E2596B"/>
                </a:solidFill>
                <a:latin typeface="Calibri"/>
                <a:ea typeface="Calibri"/>
                <a:cs typeface="Calibri"/>
                <a:sym typeface="Calibri"/>
              </a:rPr>
              <a:t>PART 10 · COVERAGE PROJECTION STUDIO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10"/>
          <p:cNvSpPr/>
          <p:nvPr/>
        </p:nvSpPr>
        <p:spPr>
          <a:xfrm>
            <a:off x="502920" y="685800"/>
            <a:ext cx="78639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Clr>
                <a:srgbClr val="F2F6F9"/>
              </a:buClr>
              <a:buSzPts val="3200"/>
              <a:buFont typeface="Cambria"/>
              <a:buNone/>
            </a:pPr>
            <a:r>
              <a:rPr b="1" i="0" lang="en-US" sz="3200" u="none" cap="none" strike="noStrike">
                <a:solidFill>
                  <a:srgbClr val="F2F6F9"/>
                </a:solidFill>
                <a:latin typeface="Cambria"/>
                <a:ea typeface="Cambria"/>
                <a:cs typeface="Cambria"/>
                <a:sym typeface="Cambria"/>
              </a:rPr>
              <a:t>Sharing the Projection with Your Client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10"/>
          <p:cNvSpPr/>
          <p:nvPr/>
        </p:nvSpPr>
        <p:spPr>
          <a:xfrm>
            <a:off x="502920" y="1714500"/>
            <a:ext cx="4191000" cy="4381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47625" lIns="47625" spcFirstLastPara="1" rIns="47625" wrap="square" tIns="476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50">
                <a:solidFill>
                  <a:srgbClr val="E2596B"/>
                </a:solidFill>
                <a:latin typeface="Calibri"/>
                <a:ea typeface="Calibri"/>
                <a:cs typeface="Calibri"/>
                <a:sym typeface="Calibri"/>
              </a:rPr>
              <a:t>01 · EXPORT AS AN IMAGE</a:t>
            </a:r>
            <a:endParaRPr b="1" sz="1050">
              <a:solidFill>
                <a:srgbClr val="E2596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F2F6F9"/>
                </a:solidFill>
                <a:latin typeface="Cambria"/>
                <a:ea typeface="Cambria"/>
                <a:cs typeface="Cambria"/>
                <a:sym typeface="Cambria"/>
              </a:rPr>
              <a:t>Turn the Table Into a Visual</a:t>
            </a:r>
            <a:endParaRPr b="1" sz="1500">
              <a:solidFill>
                <a:srgbClr val="F2F6F9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l">
              <a:spcBef>
                <a:spcPts val="450"/>
              </a:spcBef>
              <a:spcAft>
                <a:spcPts val="0"/>
              </a:spcAft>
              <a:buNone/>
            </a:pPr>
            <a:r>
              <a:rPr lang="en-US" sz="1150">
                <a:solidFill>
                  <a:srgbClr val="8CA0B3"/>
                </a:solidFill>
                <a:latin typeface="Calibri"/>
                <a:ea typeface="Calibri"/>
                <a:cs typeface="Calibri"/>
                <a:sym typeface="Calibri"/>
              </a:rPr>
              <a:t>Copy Table or Download renders the projection as a branded image, not a raw data table, ready to send.</a:t>
            </a:r>
            <a:endParaRPr sz="1150">
              <a:solidFill>
                <a:srgbClr val="8CA0B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2100"/>
              </a:spcBef>
              <a:spcAft>
                <a:spcPts val="0"/>
              </a:spcAft>
              <a:buNone/>
            </a:pPr>
            <a:r>
              <a:rPr b="1" lang="en-US" sz="1050">
                <a:solidFill>
                  <a:srgbClr val="E2596B"/>
                </a:solidFill>
                <a:latin typeface="Calibri"/>
                <a:ea typeface="Calibri"/>
                <a:cs typeface="Calibri"/>
                <a:sym typeface="Calibri"/>
              </a:rPr>
              <a:t>02 · SEND DIRECTLY IN CHAT</a:t>
            </a:r>
            <a:endParaRPr b="1" sz="1050">
              <a:solidFill>
                <a:srgbClr val="E2596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F2F6F9"/>
                </a:solidFill>
                <a:latin typeface="Cambria"/>
                <a:ea typeface="Cambria"/>
                <a:cs typeface="Cambria"/>
                <a:sym typeface="Cambria"/>
              </a:rPr>
              <a:t>No Separate Tool Needed</a:t>
            </a:r>
            <a:endParaRPr b="1" sz="1500">
              <a:solidFill>
                <a:srgbClr val="F2F6F9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l">
              <a:spcBef>
                <a:spcPts val="450"/>
              </a:spcBef>
              <a:spcAft>
                <a:spcPts val="0"/>
              </a:spcAft>
              <a:buNone/>
            </a:pPr>
            <a:r>
              <a:rPr lang="en-US" sz="1150">
                <a:solidFill>
                  <a:srgbClr val="8CA0B3"/>
                </a:solidFill>
                <a:latin typeface="Calibri"/>
                <a:ea typeface="Calibri"/>
                <a:cs typeface="Calibri"/>
                <a:sym typeface="Calibri"/>
              </a:rPr>
              <a:t>Attach the exported image straight to the customer's chat from inside the same workspace.</a:t>
            </a:r>
            <a:endParaRPr sz="1150">
              <a:solidFill>
                <a:srgbClr val="8CA0B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2100"/>
              </a:spcBef>
              <a:spcAft>
                <a:spcPts val="0"/>
              </a:spcAft>
              <a:buNone/>
            </a:pPr>
            <a:r>
              <a:rPr b="1" lang="en-US" sz="1050">
                <a:solidFill>
                  <a:srgbClr val="E2596B"/>
                </a:solidFill>
                <a:latin typeface="Calibri"/>
                <a:ea typeface="Calibri"/>
                <a:cs typeface="Calibri"/>
                <a:sym typeface="Calibri"/>
              </a:rPr>
              <a:t>03 · STAYS ON THE RECORD</a:t>
            </a:r>
            <a:endParaRPr b="1" sz="1050">
              <a:solidFill>
                <a:srgbClr val="E2596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F2F6F9"/>
                </a:solidFill>
                <a:latin typeface="Cambria"/>
                <a:ea typeface="Cambria"/>
                <a:cs typeface="Cambria"/>
                <a:sym typeface="Cambria"/>
              </a:rPr>
              <a:t>Tied to the Client's Profile</a:t>
            </a:r>
            <a:endParaRPr b="1" sz="1500">
              <a:solidFill>
                <a:srgbClr val="F2F6F9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l">
              <a:spcBef>
                <a:spcPts val="450"/>
              </a:spcBef>
              <a:spcAft>
                <a:spcPts val="0"/>
              </a:spcAft>
              <a:buNone/>
            </a:pPr>
            <a:r>
              <a:rPr lang="en-US" sz="1150">
                <a:solidFill>
                  <a:srgbClr val="8CA0B3"/>
                </a:solidFill>
                <a:latin typeface="Calibri"/>
                <a:ea typeface="Calibri"/>
                <a:cs typeface="Calibri"/>
                <a:sym typeface="Calibri"/>
              </a:rPr>
              <a:t>The shared illustration sits in that lead's chat thread alongside their persona and tags, so it's easy to find later.</a:t>
            </a:r>
            <a:endParaRPr sz="1150">
              <a:solidFill>
                <a:srgbClr val="8CA0B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10"/>
          <p:cNvSpPr/>
          <p:nvPr/>
        </p:nvSpPr>
        <p:spPr>
          <a:xfrm>
            <a:off x="4956048" y="2235139"/>
            <a:ext cx="6775800" cy="3622200"/>
          </a:xfrm>
          <a:prstGeom prst="roundRect">
            <a:avLst>
              <a:gd fmla="val 2020" name="adj"/>
            </a:avLst>
          </a:prstGeom>
          <a:solidFill>
            <a:srgbClr val="111C2B"/>
          </a:solidFill>
          <a:ln cap="flat" cmpd="sng" w="12700">
            <a:solidFill>
              <a:srgbClr val="1E2E42"/>
            </a:solidFill>
            <a:prstDash val="solid"/>
            <a:round/>
            <a:headEnd len="sm" w="sm" type="none"/>
            <a:tailEnd len="sm" w="sm" type="none"/>
          </a:ln>
          <a:effectLst>
            <a:outerShdw blurRad="228600" rotWithShape="0" algn="bl" dir="5400000" dist="76200">
              <a:srgbClr val="000000">
                <a:alpha val="4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Coverage Projection Studio - sharing the illustration via chat" id="184" name="Google Shape;184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074920" y="2354011"/>
            <a:ext cx="6537962" cy="3384416"/>
          </a:xfrm>
          <a:prstGeom prst="rect">
            <a:avLst/>
          </a:prstGeom>
          <a:noFill/>
          <a:ln>
            <a:noFill/>
          </a:ln>
        </p:spPr>
      </p:pic>
      <p:sp>
        <p:nvSpPr>
          <p:cNvPr id="185" name="Google Shape;185;p10"/>
          <p:cNvSpPr/>
          <p:nvPr/>
        </p:nvSpPr>
        <p:spPr>
          <a:xfrm>
            <a:off x="502920" y="6519672"/>
            <a:ext cx="64008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850">
                <a:solidFill>
                  <a:srgbClr val="5C7086"/>
                </a:solidFill>
                <a:latin typeface="Calibri"/>
                <a:ea typeface="Calibri"/>
                <a:cs typeface="Calibri"/>
                <a:sym typeface="Calibri"/>
              </a:rPr>
              <a:t>DECLARATION ASSISTANT — YOUR PAYMENT ASSISTANT</a:t>
            </a:r>
            <a:endParaRPr sz="850">
              <a:solidFill>
                <a:srgbClr val="5C708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10"/>
          <p:cNvSpPr/>
          <p:nvPr/>
        </p:nvSpPr>
        <p:spPr>
          <a:xfrm>
            <a:off x="11521440" y="6519672"/>
            <a:ext cx="457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C7086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5C7086"/>
                </a:solidFill>
                <a:latin typeface="Calibri"/>
                <a:ea typeface="Calibri"/>
                <a:cs typeface="Calibri"/>
                <a:sym typeface="Calibri"/>
              </a:rPr>
              <a:t>18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