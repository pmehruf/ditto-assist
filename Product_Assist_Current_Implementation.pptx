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image" Target="../media/image-8-1.png"/><Relationship Id="rId8" Type="http://schemas.openxmlformats.org/officeDocument/2006/relationships/image" Target="../media/image-8-1.png"/><Relationship Id="rId9" Type="http://schemas.openxmlformats.org/officeDocument/2006/relationships/image" Target="../media/image-8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a_ppt/icons/message_navy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7863840" y="2194560"/>
            <a:ext cx="5120640" cy="5120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PRODUCT &amp; ENGINEERING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77240" y="26974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Assist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4251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Product Assist works today — flow, prompt, rules, guardrails, and data handling.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Product Assist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92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tool inside the app that lets an insurance advisor ask questions about specific insurance plans and get an answer grounded in the company's own policy documents and product knowledge — never from the AI's own general knowledge.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6" name="Image 0" descr="/tmp/pa_ppt/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40626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95020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only in company documents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645152"/>
            <a:ext cx="502920" cy="50292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9" name="Image 1" descr="/tmp/pa_ppt/icons/eyeoff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4775911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46634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uses the AI's general knowledge as fact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5358384"/>
            <a:ext cx="502920" cy="50292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2" name="Image 2" descr="/tmp/pa_ppt/icons/us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5489143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37667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every advisor at Editor tier and above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452360" y="1600200"/>
            <a:ext cx="4160520" cy="4572000"/>
          </a:xfrm>
          <a:prstGeom prst="roundRect">
            <a:avLst>
              <a:gd name="adj" fmla="val 2637"/>
            </a:avLst>
          </a:prstGeom>
          <a:solidFill>
            <a:srgbClr val="1E2761"/>
          </a:solidFill>
          <a:ln/>
        </p:spPr>
      </p:sp>
      <p:pic>
        <p:nvPicPr>
          <p:cNvPr id="15" name="Image 3" descr="/tmp/pa_ppt/icons/messag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965960"/>
            <a:ext cx="640080" cy="6400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81812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7818120" y="320040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advisors who need a fast, source-checked answer to a product question — with the exact reference to go verify it themselves before relaying anything to a customer.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QUESTION IS ASKED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Awareness Gate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2834640" cy="2834640"/>
          </a:xfrm>
          <a:prstGeom prst="ellipse">
            <a:avLst/>
          </a:prstGeom>
          <a:solidFill>
            <a:srgbClr val="EEF2FC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461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4005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COUNTDOWN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394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CAN MAKE MISTAKES"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457200" cy="45720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9" name="Image 0" descr="/tmp/pa_ppt/icons/ale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2272" y="171907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83480" y="158191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Un-skippable the first time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983480" y="1911096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advisor sees a full-screen warning before they can ask their first question — the checkbox stays locked until the countdown reaches zero.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43400" y="2770632"/>
            <a:ext cx="457200" cy="45720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3" name="Image 1" descr="/tmp/pa_ppt/icons/checksquar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288950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83480" y="2752344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 acknowledgment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983480" y="308152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acknowledge that ‘because AI said so’ is not a policy clause.” Only then does Proceed unlock.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343400" y="3941064"/>
            <a:ext cx="457200" cy="45720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7" name="Image 2" descr="/tmp/pa_ppt/icons/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405993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83480" y="3922776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server-side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4983480" y="425196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acknowledgment is tied to the advisor's account, so it survives a cleared cache or a new device.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343400" y="5111496"/>
            <a:ext cx="457200" cy="45720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1" name="Image 3" descr="/tmp/pa_ppt/icons/sen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523036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83480" y="509320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lighter daily reminder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983480" y="5422392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first time, a shorter 5-second recap reappears once per calendar day.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QUESTION GETS ANSWERED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59105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scope, then ask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15568" y="1883664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picks an insurer (or General) and, optionally, a plan — then types a question.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276148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reaches the server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15568" y="3054096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with the chosen scope and recent conversation history, held only in the browser.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393192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resolved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15568" y="4224528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named directly in the question text is detected even if no chip was picked.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5721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48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" y="51023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lookups run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15568" y="539496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semantic search over documents, and an exact-match Product Playbook check.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6459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30568" y="159105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to Gemini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30568" y="1883664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scope, retrieved content, and the question — plus one fixed system instruction.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81635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30568" y="276148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answer returns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30568" y="3054096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answer with references, and a customer-safe paraphrase when confident.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398678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30568" y="393192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advisor sees it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30568" y="4224528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References, an optional Draft Message, and a Sources list to verify against.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515721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5148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30568" y="51023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match, no guess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830568" y="539496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nothing relevant is found, the model is told to say so plainly, not guess.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4, IN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Lookups, Every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F6F8F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pa_ppt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0747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568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86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ingested PDFs &amp; web pages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32688" y="296265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8072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becomes a vector embedding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32688" y="3529584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3741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every stored document chunk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32688" y="409651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39410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24 closest matches are pulled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32688" y="4663440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45079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the chosen insurer / plan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17920" y="160020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F6F8FE"/>
          </a:solidFill>
          <a:ln/>
        </p:spPr>
      </p:sp>
      <p:sp>
        <p:nvSpPr>
          <p:cNvPr id="18" name="Shape 15"/>
          <p:cNvSpPr/>
          <p:nvPr/>
        </p:nvSpPr>
        <p:spPr>
          <a:xfrm>
            <a:off x="658368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1" descr="/tmp/pa_ppt/icons/boo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214" y="2074774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60920" y="19568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Playbook Lookup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7360920" y="2286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team's own fact sheet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601968" y="296265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19"/>
          <p:cNvSpPr/>
          <p:nvPr/>
        </p:nvSpPr>
        <p:spPr>
          <a:xfrm>
            <a:off x="6812280" y="28072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exact insurer + plan name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601968" y="3529584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1"/>
          <p:cNvSpPr/>
          <p:nvPr/>
        </p:nvSpPr>
        <p:spPr>
          <a:xfrm>
            <a:off x="6812280" y="33741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similarity search — an exact match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601968" y="409651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3"/>
          <p:cNvSpPr/>
          <p:nvPr/>
        </p:nvSpPr>
        <p:spPr>
          <a:xfrm>
            <a:off x="6812280" y="39410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in full when it matches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6601968" y="4663440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5"/>
          <p:cNvSpPr/>
          <p:nvPr/>
        </p:nvSpPr>
        <p:spPr>
          <a:xfrm>
            <a:off x="6812280" y="45079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as the single most authoritative source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conflict, the Playbook always wins over document content.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GEMINI IS TOLD, EVERY REQUEST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Instruction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instruction, sent in full on every single request — regardless of advisor, insurer, or question.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EF2F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2768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tmp/pa_ppt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" y="2424257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762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Rule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17320" y="246888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state a fact unless it's explicitly in the supplied source content.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172200" y="20574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EF2FC"/>
          </a:solidFill>
          <a:ln/>
        </p:spPr>
      </p:sp>
      <p:sp>
        <p:nvSpPr>
          <p:cNvPr id="11" name="Shape 8"/>
          <p:cNvSpPr/>
          <p:nvPr/>
        </p:nvSpPr>
        <p:spPr>
          <a:xfrm>
            <a:off x="6336792" y="22768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tmp/pa_ppt/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193" y="2424257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21762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Comprehensiveness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040880" y="246888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excerpt — a benefit's conditions are often scattered across sections.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548640" y="3273552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EF2FC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" y="349300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tmp/pa_ppt/icons/hel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3640409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39242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Scope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417320" y="368503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explicit states for which plan is in play — never silently guessed.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6172200" y="3273552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EF2FC"/>
          </a:solidFill>
          <a:ln/>
        </p:spPr>
      </p:sp>
      <p:sp>
        <p:nvSpPr>
          <p:cNvPr id="21" name="Shape 16"/>
          <p:cNvSpPr/>
          <p:nvPr/>
        </p:nvSpPr>
        <p:spPr>
          <a:xfrm>
            <a:off x="6336792" y="349300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tmp/pa_ppt/icons/messag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193" y="3640409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339242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a Conversation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040880" y="368503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reply is resolved against the model's own last clarifying question.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548640" y="4489704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EF2FC"/>
          </a:solidFill>
          <a:ln/>
        </p:spPr>
      </p:sp>
      <p:sp>
        <p:nvSpPr>
          <p:cNvPr id="26" name="Shape 20"/>
          <p:cNvSpPr/>
          <p:nvPr/>
        </p:nvSpPr>
        <p:spPr>
          <a:xfrm>
            <a:off x="713232" y="47091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/tmp/pa_ppt/icons/checksquar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33" y="4856561"/>
            <a:ext cx="272125" cy="2721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460857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Precedence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417320" y="490118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Playbook, then Policy Wording, then Prospectus/Brochure, then general docs.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6172200" y="4489704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EF2FC"/>
          </a:solidFill>
          <a:ln/>
        </p:spPr>
      </p:sp>
      <p:sp>
        <p:nvSpPr>
          <p:cNvPr id="31" name="Shape 24"/>
          <p:cNvSpPr/>
          <p:nvPr/>
        </p:nvSpPr>
        <p:spPr>
          <a:xfrm>
            <a:off x="6336792" y="47091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/tmp/pa_ppt/icons/searc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4193" y="4856561"/>
            <a:ext cx="272125" cy="27212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40880" y="460857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Interconnected Provisions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7040880" y="490118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another clause changes how the first one should be read.</a:t>
            </a:r>
            <a:endParaRPr lang="en-US" sz="1080" dirty="0"/>
          </a:p>
        </p:txBody>
      </p:sp>
      <p:sp>
        <p:nvSpPr>
          <p:cNvPr id="35" name="Shape 27"/>
          <p:cNvSpPr/>
          <p:nvPr/>
        </p:nvSpPr>
        <p:spPr>
          <a:xfrm>
            <a:off x="548640" y="5705856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EF2FC"/>
          </a:solidFill>
          <a:ln/>
        </p:spPr>
      </p:sp>
      <p:sp>
        <p:nvSpPr>
          <p:cNvPr id="36" name="Shape 28"/>
          <p:cNvSpPr/>
          <p:nvPr/>
        </p:nvSpPr>
        <p:spPr>
          <a:xfrm>
            <a:off x="713232" y="59253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7" name="Image 6" descr="/tmp/pa_ppt/icons/filetex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633" y="6072713"/>
            <a:ext cx="272125" cy="27212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17320" y="58247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Format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1417320" y="611733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traces to a real section/clause identifier, never a paraphrase.</a:t>
            </a:r>
            <a:endParaRPr lang="en-US" sz="1080" dirty="0"/>
          </a:p>
        </p:txBody>
      </p:sp>
      <p:sp>
        <p:nvSpPr>
          <p:cNvPr id="40" name="Shape 31"/>
          <p:cNvSpPr/>
          <p:nvPr/>
        </p:nvSpPr>
        <p:spPr>
          <a:xfrm>
            <a:off x="6172200" y="5705856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EF2FC"/>
          </a:solidFill>
          <a:ln/>
        </p:spPr>
      </p:sp>
      <p:sp>
        <p:nvSpPr>
          <p:cNvPr id="41" name="Shape 32"/>
          <p:cNvSpPr/>
          <p:nvPr/>
        </p:nvSpPr>
        <p:spPr>
          <a:xfrm>
            <a:off x="6336792" y="59253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2" name="Image 7" descr="/tmp/pa_ppt/icons/aler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4193" y="6072713"/>
            <a:ext cx="272125" cy="272125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040880" y="58247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350" dirty="0"/>
          </a:p>
        </p:txBody>
      </p:sp>
      <p:sp>
        <p:nvSpPr>
          <p:cNvPr id="44" name="Text 34"/>
          <p:cNvSpPr/>
          <p:nvPr/>
        </p:nvSpPr>
        <p:spPr>
          <a:xfrm>
            <a:off x="7040880" y="611733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unresolved cases are flagged to confirm with the complex queries team.</a:t>
            </a:r>
            <a:endParaRPr lang="en-US" sz="1080" dirty="0"/>
          </a:p>
        </p:txBody>
      </p:sp>
      <p:sp>
        <p:nvSpPr>
          <p:cNvPr id="45" name="Text 3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SOURCES DISAGREE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Precedence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932688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46504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Playbook Plan Facts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07568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exclusive for any topic it covers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2C3B8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1518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Wording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94436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plan's actual contract language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6400800" cy="713232"/>
          </a:xfrm>
          <a:prstGeom prst="roundRect">
            <a:avLst>
              <a:gd name="adj" fmla="val 7692"/>
            </a:avLst>
          </a:prstGeom>
          <a:solidFill>
            <a:srgbClr val="3C55A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8386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Prospectus / Brochure / Add-on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38130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summaries and marketing material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4937760" cy="713232"/>
          </a:xfrm>
          <a:prstGeom prst="roundRect">
            <a:avLst>
              <a:gd name="adj" fmla="val 7692"/>
            </a:avLst>
          </a:prstGeom>
          <a:solidFill>
            <a:srgbClr val="6C86C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525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Insurer-Wide Documents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7240" y="46817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 tag — applies broadly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3474720" cy="713232"/>
          </a:xfrm>
          <a:prstGeom prst="roundRect">
            <a:avLst>
              <a:gd name="adj" fmla="val 7692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2212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/ Others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" y="55504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no specific insurer was selected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wins on conflict — but only after checking whether an apparent conflict is really one clause qualifying another.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That Shape Every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5" name="Image 0" descr="/tmp/pa_ppt/icons/checkcirc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492" y="1791492"/>
            <a:ext cx="184343" cy="184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636776"/>
            <a:ext cx="4864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answer from what's handed to it — never general knowledge, never assumption</a:t>
            </a:r>
            <a:endParaRPr lang="en-US" sz="1280" dirty="0"/>
          </a:p>
        </p:txBody>
      </p:sp>
      <p:sp>
        <p:nvSpPr>
          <p:cNvPr id="7" name="Shape 4"/>
          <p:cNvSpPr/>
          <p:nvPr/>
        </p:nvSpPr>
        <p:spPr>
          <a:xfrm>
            <a:off x="548640" y="2532888"/>
            <a:ext cx="384048" cy="38404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8" name="Image 1" descr="/tmp/pa_ppt/icons/check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92" y="2632740"/>
            <a:ext cx="184343" cy="184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992" y="2478024"/>
            <a:ext cx="4864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retrieved excerpt, not just the closest match</a:t>
            </a:r>
            <a:endParaRPr lang="en-US" sz="1280" dirty="0"/>
          </a:p>
        </p:txBody>
      </p:sp>
      <p:sp>
        <p:nvSpPr>
          <p:cNvPr id="10" name="Shape 6"/>
          <p:cNvSpPr/>
          <p:nvPr/>
        </p:nvSpPr>
        <p:spPr>
          <a:xfrm>
            <a:off x="548640" y="3374136"/>
            <a:ext cx="384048" cy="38404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1" name="Image 2" descr="/tmp/pa_ppt/icons/check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3473988"/>
            <a:ext cx="184343" cy="1843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8992" y="3319272"/>
            <a:ext cx="4864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the source pecking order on any conflict</a:t>
            </a:r>
            <a:endParaRPr lang="en-US" sz="1280" dirty="0"/>
          </a:p>
        </p:txBody>
      </p:sp>
      <p:sp>
        <p:nvSpPr>
          <p:cNvPr id="13" name="Shape 8"/>
          <p:cNvSpPr/>
          <p:nvPr/>
        </p:nvSpPr>
        <p:spPr>
          <a:xfrm>
            <a:off x="548640" y="4215384"/>
            <a:ext cx="384048" cy="38404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4" name="Image 3" descr="/tmp/pa_ppt/icons/checkcirc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92" y="4315236"/>
            <a:ext cx="184343" cy="18434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8992" y="4160520"/>
            <a:ext cx="4864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“which plan” as three distinct situations — never silently guess</a:t>
            </a:r>
            <a:endParaRPr lang="en-US" sz="1280" dirty="0"/>
          </a:p>
        </p:txBody>
      </p:sp>
      <p:sp>
        <p:nvSpPr>
          <p:cNvPr id="16" name="Shape 10"/>
          <p:cNvSpPr/>
          <p:nvPr/>
        </p:nvSpPr>
        <p:spPr>
          <a:xfrm>
            <a:off x="548640" y="5056632"/>
            <a:ext cx="384048" cy="38404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7" name="Image 4" descr="/tmp/pa_ppt/icons/checkcirc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92" y="5156484"/>
            <a:ext cx="184343" cy="18434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78992" y="5001768"/>
            <a:ext cx="4864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exactly one clarifying question when the plan can't be determined</a:t>
            </a:r>
            <a:endParaRPr lang="en-US" sz="1280" dirty="0"/>
          </a:p>
        </p:txBody>
      </p:sp>
      <p:sp>
        <p:nvSpPr>
          <p:cNvPr id="19" name="Shape 12"/>
          <p:cNvSpPr/>
          <p:nvPr/>
        </p:nvSpPr>
        <p:spPr>
          <a:xfrm>
            <a:off x="6263640" y="1691640"/>
            <a:ext cx="384048" cy="38404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0" name="Image 5" descr="/tmp/pa_ppt/icons/checkcircl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3492" y="1791492"/>
            <a:ext cx="184343" cy="18434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93992" y="1636776"/>
            <a:ext cx="4864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interactions between clauses, not just the first one found</a:t>
            </a:r>
            <a:endParaRPr lang="en-US" sz="1280" dirty="0"/>
          </a:p>
        </p:txBody>
      </p:sp>
      <p:sp>
        <p:nvSpPr>
          <p:cNvPr id="22" name="Shape 14"/>
          <p:cNvSpPr/>
          <p:nvPr/>
        </p:nvSpPr>
        <p:spPr>
          <a:xfrm>
            <a:off x="6263640" y="2532888"/>
            <a:ext cx="384048" cy="38404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3" name="Image 6" descr="/tmp/pa_ppt/icons/checkcircl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3492" y="2632740"/>
            <a:ext cx="184343" cy="18434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793992" y="2478024"/>
            <a:ext cx="4864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every factual claim with a real section/clause identifier</a:t>
            </a:r>
            <a:endParaRPr lang="en-US" sz="1280" dirty="0"/>
          </a:p>
        </p:txBody>
      </p:sp>
      <p:sp>
        <p:nvSpPr>
          <p:cNvPr id="25" name="Shape 16"/>
          <p:cNvSpPr/>
          <p:nvPr/>
        </p:nvSpPr>
        <p:spPr>
          <a:xfrm>
            <a:off x="6263640" y="3374136"/>
            <a:ext cx="384048" cy="38404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6" name="Image 7" descr="/tmp/pa_ppt/icons/checkcircle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3492" y="3473988"/>
            <a:ext cx="184343" cy="18434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793992" y="3319272"/>
            <a:ext cx="4864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genuinely unresolved edge cases rather than picking a guess</a:t>
            </a:r>
            <a:endParaRPr lang="en-US" sz="1280" dirty="0"/>
          </a:p>
        </p:txBody>
      </p:sp>
      <p:sp>
        <p:nvSpPr>
          <p:cNvPr id="28" name="Shape 18"/>
          <p:cNvSpPr/>
          <p:nvPr/>
        </p:nvSpPr>
        <p:spPr>
          <a:xfrm>
            <a:off x="6263640" y="4215384"/>
            <a:ext cx="384048" cy="38404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9" name="Image 8" descr="/tmp/pa_ppt/icons/checkcircle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3492" y="4315236"/>
            <a:ext cx="184343" cy="184343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793992" y="4160520"/>
            <a:ext cx="4864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the customer-facing paraphrase overstate the verified answer</a:t>
            </a:r>
            <a:endParaRPr lang="en-US" sz="1280" dirty="0"/>
          </a:p>
        </p:txBody>
      </p:sp>
      <p:sp>
        <p:nvSpPr>
          <p:cNvPr id="31" name="Text 2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 THE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In 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93008" cy="1920240"/>
          </a:xfrm>
          <a:prstGeom prst="roundRect">
            <a:avLst>
              <a:gd name="adj" fmla="val 4762"/>
            </a:avLst>
          </a:prstGeom>
          <a:solidFill>
            <a:srgbClr val="F6F8FE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pa_ppt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209031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060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discipline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2953512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stated unless explicit in the source content; inference is always flagged as inference.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493008" cy="1920240"/>
          </a:xfrm>
          <a:prstGeom prst="roundRect">
            <a:avLst>
              <a:gd name="adj" fmla="val 4762"/>
            </a:avLst>
          </a:prstGeom>
          <a:solidFill>
            <a:srgbClr val="F6F8FE"/>
          </a:solidFill>
          <a:ln/>
        </p:spPr>
      </p:sp>
      <p:sp>
        <p:nvSpPr>
          <p:cNvPr id="10" name="Shape 7"/>
          <p:cNvSpPr/>
          <p:nvPr/>
        </p:nvSpPr>
        <p:spPr>
          <a:xfrm>
            <a:off x="4553712" y="19476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tmp/pa_ppt/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358" y="209031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6060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53712" y="2953512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unresolved cases route to the complex queries team.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493008" cy="1920240"/>
          </a:xfrm>
          <a:prstGeom prst="roundRect">
            <a:avLst>
              <a:gd name="adj" fmla="val 4762"/>
            </a:avLst>
          </a:prstGeom>
          <a:solidFill>
            <a:srgbClr val="F6F8F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02752" y="19476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tmp/pa_ppt/icons/mess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398" y="209031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6060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customer message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02752" y="2953512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customer-safe paraphrase stays empty unless the answer is genuinely confident.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493008" cy="1920240"/>
          </a:xfrm>
          <a:prstGeom prst="roundRect">
            <a:avLst>
              <a:gd name="adj" fmla="val 4762"/>
            </a:avLst>
          </a:prstGeom>
          <a:solidFill>
            <a:srgbClr val="F6F8FE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0965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tmp/pa_ppt/icons/slid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" y="423915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7548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Low-variance responses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04672" y="5102352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plus a forced two-field response structure, every time.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297680" y="3840480"/>
            <a:ext cx="3493008" cy="1920240"/>
          </a:xfrm>
          <a:prstGeom prst="roundRect">
            <a:avLst>
              <a:gd name="adj" fmla="val 4762"/>
            </a:avLst>
          </a:prstGeom>
          <a:solidFill>
            <a:srgbClr val="F6F8FE"/>
          </a:solidFill>
          <a:ln/>
        </p:spPr>
      </p:sp>
      <p:sp>
        <p:nvSpPr>
          <p:cNvPr id="25" name="Shape 19"/>
          <p:cNvSpPr/>
          <p:nvPr/>
        </p:nvSpPr>
        <p:spPr>
          <a:xfrm>
            <a:off x="4553712" y="40965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tmp/pa_ppt/icons/checksquar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6358" y="4239158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7548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awareness gate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53712" y="5102352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one-time warning and daily reminder from Section 2.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046720" y="3840480"/>
            <a:ext cx="3493008" cy="1920240"/>
          </a:xfrm>
          <a:prstGeom prst="roundRect">
            <a:avLst>
              <a:gd name="adj" fmla="val 4762"/>
            </a:avLst>
          </a:prstGeom>
          <a:solidFill>
            <a:srgbClr val="F6F8FE"/>
          </a:solidFill>
          <a:ln/>
        </p:spPr>
      </p:sp>
      <p:sp>
        <p:nvSpPr>
          <p:cNvPr id="30" name="Shape 23"/>
          <p:cNvSpPr/>
          <p:nvPr/>
        </p:nvSpPr>
        <p:spPr>
          <a:xfrm>
            <a:off x="8302752" y="40965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tmp/pa_ppt/icons/lo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5398" y="4239158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47548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02752" y="5102352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Signed-in session required, Editor tier and above, rate-limited per caller.</a:t>
            </a:r>
            <a:endParaRPr lang="en-US" sz="1080" dirty="0"/>
          </a:p>
        </p:txBody>
      </p:sp>
      <p:sp>
        <p:nvSpPr>
          <p:cNvPr id="34" name="Shape 26"/>
          <p:cNvSpPr/>
          <p:nvPr/>
        </p:nvSpPr>
        <p:spPr>
          <a:xfrm>
            <a:off x="548640" y="58064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EAEA"/>
          </a:solidFill>
          <a:ln/>
        </p:spPr>
      </p:sp>
      <p:pic>
        <p:nvPicPr>
          <p:cNvPr id="35" name="Image 6" descr="/tmp/pa_ppt/icons/xcircl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989320"/>
            <a:ext cx="384048" cy="38404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261872" y="59436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minimum relevance threshold on retrieval, no independent citation verification, and no topic filter outside the instruction itself.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ANSWERS COME FROM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&amp; Source Behaviour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EEF2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pa_ppt/icons/filetex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0628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751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PDFs and web pages — brochures, policy wording, prospectuses, add-ons, claims guides — split into chunks and turned into searchable embeddings.</a:t>
            </a:r>
            <a:endParaRPr lang="en-US" sz="123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= vector similarity to the question — top 24 matches, always.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EEF2FC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tmp/pa_ppt/icons/boo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20628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9751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Playbook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251460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 Sheet the product team maintains. Narrative tabs are searched like documents; per-plan comparison tabs are reshaped into a structured table.</a:t>
            </a:r>
            <a:endParaRPr lang="en-US" sz="1230" dirty="0"/>
          </a:p>
        </p:txBody>
      </p:sp>
      <p:sp>
        <p:nvSpPr>
          <p:cNvPr id="15" name="Text 11"/>
          <p:cNvSpPr/>
          <p:nvPr/>
        </p:nvSpPr>
        <p:spPr>
          <a:xfrm>
            <a:off x="6537960" y="38862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= exact match on insurer + plan name, not similarity.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822960" y="4892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exclusivity rule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Playbook covers a topic, it's treated as complete and exclusive for it — the model never supplements it with an extra detail from a document, even a true and on-topic one, because the Playbook is the live record of what's actually true for that plan today.</a:t>
            </a:r>
            <a:endParaRPr lang="en-US" sz="1230" dirty="0"/>
          </a:p>
        </p:txBody>
      </p:sp>
      <p:sp>
        <p:nvSpPr>
          <p:cNvPr id="19" name="Text 1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Advisor Experiences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343400"/>
          </a:xfrm>
          <a:prstGeom prst="roundRect">
            <a:avLst>
              <a:gd name="adj" fmla="val 2597"/>
            </a:avLst>
          </a:prstGeom>
          <a:solidFill>
            <a:srgbClr val="E3F4E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pa_ppt/icons/checkcirc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1086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ANSWER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explicitly picked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the retrieved chunks and any matching Playbook fact, writes a cited Answer, and — because it's genuinely confident — also generates a Draft Message.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520440" cy="4343400"/>
          </a:xfrm>
          <a:prstGeom prst="roundRect">
            <a:avLst>
              <a:gd name="adj" fmla="val 2597"/>
            </a:avLst>
          </a:prstGeom>
          <a:solidFill>
            <a:srgbClr val="EEF2FC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tmp/pa_ppt/icons/searc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66" y="210860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606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PLAN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617720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named in the question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17720" y="36118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detected from the question text and used for retrieval, but the model is told it was detected, not chosen — and stays cautious about it.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520440" cy="4343400"/>
          </a:xfrm>
          <a:prstGeom prst="roundRect">
            <a:avLst>
              <a:gd name="adj" fmla="val 2597"/>
            </a:avLst>
          </a:prstGeom>
          <a:solidFill>
            <a:srgbClr val="FBEAEA"/>
          </a:solidFill>
          <a:ln/>
        </p:spPr>
      </p:sp>
      <p:sp>
        <p:nvSpPr>
          <p:cNvPr id="17" name="Shape 13"/>
          <p:cNvSpPr/>
          <p:nvPr/>
        </p:nvSpPr>
        <p:spPr>
          <a:xfrm>
            <a:off x="841248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tmp/pa_ppt/icons/ale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26" y="210860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2606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412480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Can't confidently answer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412480" y="36118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states plainly what the sources do and don't establish and adds a note to confirm with the complex queries team. No Draft Message is generated.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STATED PLAINLY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E3F4E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pa_ppt/icons/checkcirc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0052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to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sourced question, retrieve the matching policy documents and Playbook facts, and produce a grounded answer with verifiable citations — plus a customer-safe paraphrase, only when genuinely confident.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BEAEA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tmp/pa_ppt/icons/x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79" y="200527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designed to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46520" y="251460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guaranteed, independently fact-checked, or complete answer on its own. There's no confidence threshold on retrieval and no topic boundary outside the instruction itself.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information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794760" y="4251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core job — synthesizing matched excerpts and Playbook facts into a cited answer.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48640" y="4754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assumptions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794760" y="4754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presented as fact — only as clearly-labeled interpretive language.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48640" y="5257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 definitive answer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794760" y="5257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sources genuinely and unambiguously support it.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48640" y="5760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unavailable information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3794760" y="5760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it plainly rather than guessing; the customer paraphrase stays empty.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RETAINED, AND 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Handling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content lives only in the advisor's own browser between turns — each request resends recent history as short-lived context for that one call. No conversation is used to answer anyone else's question, and no conversation is visible to another advisor.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6F8FE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30449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tmp/pa_ppt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431" y="3175711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retained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3657600"/>
            <a:ext cx="4882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and answer, the scope (insurer/plan), the sources and content supplied to the model, and usage metadata for quality and cost analysis.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278892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6F8FE"/>
          </a:solidFill>
          <a:ln/>
        </p:spPr>
      </p:sp>
      <p:sp>
        <p:nvSpPr>
          <p:cNvPr id="11" name="Shape 8"/>
          <p:cNvSpPr/>
          <p:nvPr/>
        </p:nvSpPr>
        <p:spPr>
          <a:xfrm>
            <a:off x="6473952" y="30449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tmp/pa_ppt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711" y="317571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73952" y="3657600"/>
            <a:ext cx="4882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Solely for internal analysis of Product Assist's accuracy, completeness, and performance — not for monitoring individual advisors.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75488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6F8FE"/>
          </a:solidFill>
          <a:ln/>
        </p:spPr>
      </p:sp>
      <p:sp>
        <p:nvSpPr>
          <p:cNvPr id="16" name="Shape 12"/>
          <p:cNvSpPr/>
          <p:nvPr/>
        </p:nvSpPr>
        <p:spPr>
          <a:xfrm>
            <a:off x="804672" y="50109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tmp/pa_ppt/icons/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1" y="5141671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5029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04672" y="5623560"/>
            <a:ext cx="4882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exported to a private, access-controlled Google Sheet, then cleared from the application database — it doesn't accumulate indefinitely.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17920" y="475488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6F8FE"/>
          </a:solidFill>
          <a:ln/>
        </p:spPr>
      </p:sp>
      <p:sp>
        <p:nvSpPr>
          <p:cNvPr id="21" name="Shape 16"/>
          <p:cNvSpPr/>
          <p:nvPr/>
        </p:nvSpPr>
        <p:spPr>
          <a:xfrm>
            <a:off x="6473952" y="50109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tmp/pa_ppt/icons/slid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711" y="5141671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5029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473952" y="5623560"/>
            <a:ext cx="4882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logging can be turned off entirely via an existing configuration switch.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a_ppt/icons/shield_navy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8046720" y="182880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651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ASSIST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77240" y="301752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answers.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 references.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guessing.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2026-08-20T06:12:27Z</dcterms:created>
  <dcterms:modified xsi:type="dcterms:W3CDTF">2026-08-20T06:12:27Z</dcterms:modified>
</cp:coreProperties>
</file>